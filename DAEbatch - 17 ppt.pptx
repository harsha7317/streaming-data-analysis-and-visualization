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68" r:id="rId2"/>
    <p:sldId id="275" r:id="rId3"/>
    <p:sldId id="1752" r:id="rId4"/>
    <p:sldId id="1746" r:id="rId5"/>
    <p:sldId id="276" r:id="rId6"/>
    <p:sldId id="1745" r:id="rId7"/>
    <p:sldId id="1754" r:id="rId8"/>
    <p:sldId id="1755" r:id="rId9"/>
    <p:sldId id="1747" r:id="rId10"/>
    <p:sldId id="1756" r:id="rId11"/>
    <p:sldId id="1757" r:id="rId12"/>
    <p:sldId id="1758" r:id="rId13"/>
    <p:sldId id="1759" r:id="rId14"/>
    <p:sldId id="1760" r:id="rId15"/>
    <p:sldId id="1763" r:id="rId16"/>
    <p:sldId id="1761" r:id="rId17"/>
    <p:sldId id="1767" r:id="rId18"/>
    <p:sldId id="1764" r:id="rId19"/>
    <p:sldId id="1766" r:id="rId20"/>
    <p:sldId id="1768" r:id="rId21"/>
    <p:sldId id="279" r:id="rId22"/>
    <p:sldId id="174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7BC637-5ACA-40FB-9237-1809FFF65152}" v="16" dt="2026-10-01T05:39:26.8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11"/>
    <p:restoredTop sz="89927" autoAdjust="0"/>
  </p:normalViewPr>
  <p:slideViewPr>
    <p:cSldViewPr>
      <p:cViewPr varScale="1">
        <p:scale>
          <a:sx n="80" d="100"/>
          <a:sy n="80" d="100"/>
        </p:scale>
        <p:origin x="624"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vesh Mynam" userId="63f7275f085e8f6d" providerId="LiveId" clId="{857BC637-5ACA-40FB-9237-1809FFF65152}"/>
    <pc:docChg chg="custSel addSld modSld sldOrd">
      <pc:chgData name="Anvesh Mynam" userId="63f7275f085e8f6d" providerId="LiveId" clId="{857BC637-5ACA-40FB-9237-1809FFF65152}" dt="2026-10-01T05:39:35.596" v="96" actId="255"/>
      <pc:docMkLst>
        <pc:docMk/>
      </pc:docMkLst>
      <pc:sldChg chg="modSp mod">
        <pc:chgData name="Anvesh Mynam" userId="63f7275f085e8f6d" providerId="LiveId" clId="{857BC637-5ACA-40FB-9237-1809FFF65152}" dt="2026-10-01T05:39:35.596" v="96" actId="255"/>
        <pc:sldMkLst>
          <pc:docMk/>
          <pc:sldMk cId="480848812" sldId="279"/>
        </pc:sldMkLst>
        <pc:spChg chg="mod">
          <ac:chgData name="Anvesh Mynam" userId="63f7275f085e8f6d" providerId="LiveId" clId="{857BC637-5ACA-40FB-9237-1809FFF65152}" dt="2026-10-01T05:39:35.596" v="96" actId="255"/>
          <ac:spMkLst>
            <pc:docMk/>
            <pc:sldMk cId="480848812" sldId="279"/>
            <ac:spMk id="18" creationId="{50D34E35-F1C0-F285-56D2-9E272FBE4C1D}"/>
          </ac:spMkLst>
        </pc:spChg>
      </pc:sldChg>
      <pc:sldChg chg="modSp mod">
        <pc:chgData name="Anvesh Mynam" userId="63f7275f085e8f6d" providerId="LiveId" clId="{857BC637-5ACA-40FB-9237-1809FFF65152}" dt="2026-10-01T05:15:59.163" v="21" actId="1076"/>
        <pc:sldMkLst>
          <pc:docMk/>
          <pc:sldMk cId="3519163439" sldId="1761"/>
        </pc:sldMkLst>
        <pc:spChg chg="mod">
          <ac:chgData name="Anvesh Mynam" userId="63f7275f085e8f6d" providerId="LiveId" clId="{857BC637-5ACA-40FB-9237-1809FFF65152}" dt="2026-10-01T05:15:59.163" v="21" actId="1076"/>
          <ac:spMkLst>
            <pc:docMk/>
            <pc:sldMk cId="3519163439" sldId="1761"/>
            <ac:spMk id="5" creationId="{EBDBB65F-8C77-1567-A711-167B203231C4}"/>
          </ac:spMkLst>
        </pc:spChg>
      </pc:sldChg>
      <pc:sldChg chg="modSp mod">
        <pc:chgData name="Anvesh Mynam" userId="63f7275f085e8f6d" providerId="LiveId" clId="{857BC637-5ACA-40FB-9237-1809FFF65152}" dt="2026-10-01T05:15:40.027" v="13" actId="14100"/>
        <pc:sldMkLst>
          <pc:docMk/>
          <pc:sldMk cId="1773004686" sldId="1764"/>
        </pc:sldMkLst>
        <pc:spChg chg="mod">
          <ac:chgData name="Anvesh Mynam" userId="63f7275f085e8f6d" providerId="LiveId" clId="{857BC637-5ACA-40FB-9237-1809FFF65152}" dt="2026-10-01T05:15:38.315" v="12" actId="14100"/>
          <ac:spMkLst>
            <pc:docMk/>
            <pc:sldMk cId="1773004686" sldId="1764"/>
            <ac:spMk id="5" creationId="{EBDBB65F-8C77-1567-A711-167B203231C4}"/>
          </ac:spMkLst>
        </pc:spChg>
        <pc:picChg chg="mod">
          <ac:chgData name="Anvesh Mynam" userId="63f7275f085e8f6d" providerId="LiveId" clId="{857BC637-5ACA-40FB-9237-1809FFF65152}" dt="2026-10-01T05:15:40.027" v="13" actId="14100"/>
          <ac:picMkLst>
            <pc:docMk/>
            <pc:sldMk cId="1773004686" sldId="1764"/>
            <ac:picMk id="17" creationId="{4022B5F5-A2DA-C659-2DAD-D8E3D29EBA1B}"/>
          </ac:picMkLst>
        </pc:picChg>
      </pc:sldChg>
      <pc:sldChg chg="modSp">
        <pc:chgData name="Anvesh Mynam" userId="63f7275f085e8f6d" providerId="LiveId" clId="{857BC637-5ACA-40FB-9237-1809FFF65152}" dt="2026-10-01T05:16:11.302" v="22" actId="1076"/>
        <pc:sldMkLst>
          <pc:docMk/>
          <pc:sldMk cId="312559997" sldId="1766"/>
        </pc:sldMkLst>
        <pc:spChg chg="mod">
          <ac:chgData name="Anvesh Mynam" userId="63f7275f085e8f6d" providerId="LiveId" clId="{857BC637-5ACA-40FB-9237-1809FFF65152}" dt="2026-10-01T05:16:11.302" v="22" actId="1076"/>
          <ac:spMkLst>
            <pc:docMk/>
            <pc:sldMk cId="312559997" sldId="1766"/>
            <ac:spMk id="2" creationId="{C6CBB5A4-71EC-93B8-DCDC-2DA4093A2C96}"/>
          </ac:spMkLst>
        </pc:spChg>
      </pc:sldChg>
      <pc:sldChg chg="ord">
        <pc:chgData name="Anvesh Mynam" userId="63f7275f085e8f6d" providerId="LiveId" clId="{857BC637-5ACA-40FB-9237-1809FFF65152}" dt="2026-10-01T05:15:00.786" v="3"/>
        <pc:sldMkLst>
          <pc:docMk/>
          <pc:sldMk cId="707897985" sldId="1767"/>
        </pc:sldMkLst>
      </pc:sldChg>
      <pc:sldChg chg="addSp delSp modSp add mod">
        <pc:chgData name="Anvesh Mynam" userId="63f7275f085e8f6d" providerId="LiveId" clId="{857BC637-5ACA-40FB-9237-1809FFF65152}" dt="2026-10-01T05:36:46.614" v="84" actId="14100"/>
        <pc:sldMkLst>
          <pc:docMk/>
          <pc:sldMk cId="3965854531" sldId="1768"/>
        </pc:sldMkLst>
        <pc:spChg chg="del mod">
          <ac:chgData name="Anvesh Mynam" userId="63f7275f085e8f6d" providerId="LiveId" clId="{857BC637-5ACA-40FB-9237-1809FFF65152}" dt="2026-10-01T05:27:15.692" v="47" actId="478"/>
          <ac:spMkLst>
            <pc:docMk/>
            <pc:sldMk cId="3965854531" sldId="1768"/>
            <ac:spMk id="2" creationId="{C6CBB5A4-71EC-93B8-DCDC-2DA4093A2C96}"/>
          </ac:spMkLst>
        </pc:spChg>
        <pc:spChg chg="add mod">
          <ac:chgData name="Anvesh Mynam" userId="63f7275f085e8f6d" providerId="LiveId" clId="{857BC637-5ACA-40FB-9237-1809FFF65152}" dt="2026-10-01T05:28:00.910" v="65" actId="1076"/>
          <ac:spMkLst>
            <pc:docMk/>
            <pc:sldMk cId="3965854531" sldId="1768"/>
            <ac:spMk id="3" creationId="{49217813-5711-2C9C-641C-2CE4546B3167}"/>
          </ac:spMkLst>
        </pc:spChg>
        <pc:spChg chg="mod">
          <ac:chgData name="Anvesh Mynam" userId="63f7275f085e8f6d" providerId="LiveId" clId="{857BC637-5ACA-40FB-9237-1809FFF65152}" dt="2026-10-01T05:26:18.857" v="24" actId="1076"/>
          <ac:spMkLst>
            <pc:docMk/>
            <pc:sldMk cId="3965854531" sldId="1768"/>
            <ac:spMk id="11" creationId="{7F729639-405D-5572-836E-567718ABB4C1}"/>
          </ac:spMkLst>
        </pc:spChg>
        <pc:spChg chg="mod">
          <ac:chgData name="Anvesh Mynam" userId="63f7275f085e8f6d" providerId="LiveId" clId="{857BC637-5ACA-40FB-9237-1809FFF65152}" dt="2026-10-01T05:26:29.472" v="41" actId="20577"/>
          <ac:spMkLst>
            <pc:docMk/>
            <pc:sldMk cId="3965854531" sldId="1768"/>
            <ac:spMk id="12" creationId="{954451DD-7836-A519-AE0F-0C0727C9ADAD}"/>
          </ac:spMkLst>
        </pc:spChg>
        <pc:picChg chg="del mod">
          <ac:chgData name="Anvesh Mynam" userId="63f7275f085e8f6d" providerId="LiveId" clId="{857BC637-5ACA-40FB-9237-1809FFF65152}" dt="2026-10-01T05:28:40.371" v="67" actId="478"/>
          <ac:picMkLst>
            <pc:docMk/>
            <pc:sldMk cId="3965854531" sldId="1768"/>
            <ac:picMk id="7" creationId="{3FB82975-8A21-BEAB-A74F-C8167A7FE50B}"/>
          </ac:picMkLst>
        </pc:picChg>
        <pc:picChg chg="add mod">
          <ac:chgData name="Anvesh Mynam" userId="63f7275f085e8f6d" providerId="LiveId" clId="{857BC637-5ACA-40FB-9237-1809FFF65152}" dt="2026-10-01T05:28:52.551" v="74" actId="14100"/>
          <ac:picMkLst>
            <pc:docMk/>
            <pc:sldMk cId="3965854531" sldId="1768"/>
            <ac:picMk id="8" creationId="{C041A459-CA72-2486-B2E9-C6B14FB0C864}"/>
          </ac:picMkLst>
        </pc:picChg>
        <pc:picChg chg="del">
          <ac:chgData name="Anvesh Mynam" userId="63f7275f085e8f6d" providerId="LiveId" clId="{857BC637-5ACA-40FB-9237-1809FFF65152}" dt="2026-10-01T05:28:54.644" v="75" actId="478"/>
          <ac:picMkLst>
            <pc:docMk/>
            <pc:sldMk cId="3965854531" sldId="1768"/>
            <ac:picMk id="10" creationId="{3B679F0C-7935-F59D-C105-97C6880EF2A9}"/>
          </ac:picMkLst>
        </pc:picChg>
        <pc:picChg chg="add mod">
          <ac:chgData name="Anvesh Mynam" userId="63f7275f085e8f6d" providerId="LiveId" clId="{857BC637-5ACA-40FB-9237-1809FFF65152}" dt="2026-10-01T05:36:46.614" v="84" actId="14100"/>
          <ac:picMkLst>
            <pc:docMk/>
            <pc:sldMk cId="3965854531" sldId="1768"/>
            <ac:picMk id="13" creationId="{087505E7-C988-F001-07D9-902F5234FC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E25116-00D9-4A77-BFEB-9388F8B9BA67}" type="datetimeFigureOut">
              <a:rPr lang="en-US" smtClean="0"/>
              <a:pPr/>
              <a:t>10/1/2026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91F5B3-4BBF-41F2-8804-AFC586FF4C0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1F5B3-4BBF-41F2-8804-AFC586FF4C08}" type="slidenum">
              <a:rPr lang="en-US" smtClean="0"/>
              <a:pPr/>
              <a:t>5</a:t>
            </a:fld>
            <a:endParaRPr lang="en-US"/>
          </a:p>
        </p:txBody>
      </p:sp>
    </p:spTree>
    <p:extLst>
      <p:ext uri="{BB962C8B-B14F-4D97-AF65-F5344CB8AC3E}">
        <p14:creationId xmlns:p14="http://schemas.microsoft.com/office/powerpoint/2010/main" val="1957309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1F5B3-4BBF-41F2-8804-AFC586FF4C08}" type="slidenum">
              <a:rPr lang="en-US" smtClean="0"/>
              <a:pPr/>
              <a:t>17</a:t>
            </a:fld>
            <a:endParaRPr lang="en-US"/>
          </a:p>
        </p:txBody>
      </p:sp>
    </p:spTree>
    <p:extLst>
      <p:ext uri="{BB962C8B-B14F-4D97-AF65-F5344CB8AC3E}">
        <p14:creationId xmlns:p14="http://schemas.microsoft.com/office/powerpoint/2010/main" val="128414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1F5B3-4BBF-41F2-8804-AFC586FF4C08}" type="slidenum">
              <a:rPr lang="en-US" smtClean="0"/>
              <a:pPr/>
              <a:t>18</a:t>
            </a:fld>
            <a:endParaRPr lang="en-US"/>
          </a:p>
        </p:txBody>
      </p:sp>
    </p:spTree>
    <p:extLst>
      <p:ext uri="{BB962C8B-B14F-4D97-AF65-F5344CB8AC3E}">
        <p14:creationId xmlns:p14="http://schemas.microsoft.com/office/powerpoint/2010/main" val="1363354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1F5B3-4BBF-41F2-8804-AFC586FF4C08}" type="slidenum">
              <a:rPr lang="en-US" smtClean="0"/>
              <a:pPr/>
              <a:t>19</a:t>
            </a:fld>
            <a:endParaRPr lang="en-US"/>
          </a:p>
        </p:txBody>
      </p:sp>
    </p:spTree>
    <p:extLst>
      <p:ext uri="{BB962C8B-B14F-4D97-AF65-F5344CB8AC3E}">
        <p14:creationId xmlns:p14="http://schemas.microsoft.com/office/powerpoint/2010/main" val="1436596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1F5B3-4BBF-41F2-8804-AFC586FF4C08}" type="slidenum">
              <a:rPr lang="en-US" smtClean="0"/>
              <a:pPr/>
              <a:t>20</a:t>
            </a:fld>
            <a:endParaRPr lang="en-US"/>
          </a:p>
        </p:txBody>
      </p:sp>
    </p:spTree>
    <p:extLst>
      <p:ext uri="{BB962C8B-B14F-4D97-AF65-F5344CB8AC3E}">
        <p14:creationId xmlns:p14="http://schemas.microsoft.com/office/powerpoint/2010/main" val="625631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8C4122-21D7-4D2E-9537-F9D5F36E3D21}" type="datetime3">
              <a:rPr lang="en-US" smtClean="0"/>
              <a:t>1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87603C-9C71-4375-9B9C-07CB8A3E7A57}" type="datetime3">
              <a:rPr lang="en-US" smtClean="0"/>
              <a:t>1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41E986-61DE-4AB4-91FB-298D4541D173}" type="datetime3">
              <a:rPr lang="en-US" smtClean="0"/>
              <a:t>1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C96C85-4D28-466E-8276-D1328B90FAC2}"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DA0926-7F03-40DF-B510-A433943B4037}" type="datetime3">
              <a:rPr lang="en-US" smtClean="0"/>
              <a:t>1 October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D7B668-7437-4438-91AB-1C90BD88D37C}" type="datetime3">
              <a:rPr lang="en-US" smtClean="0"/>
              <a:t>1 October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FA918-FD71-421A-8887-A378854027B1}" type="datetime3">
              <a:rPr lang="en-US" smtClean="0"/>
              <a:t>1 October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DBF877-3539-4BD4-86DE-2BE37BC6985F}"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AF0C93-7BFE-482C-9BCB-7503D20D7B23}"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CB437-AC66-43EC-9CBF-2B945F499F52}" type="datetime3">
              <a:rPr lang="en-US" smtClean="0"/>
              <a:t>1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166ACE-B2CC-417F-BA68-DB002F313D0E}" type="datetime3">
              <a:rPr lang="en-US" smtClean="0"/>
              <a:t>1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501103D-639F-4D8B-9094-99FCF04F5B20}" type="datetime3">
              <a:rPr lang="en-US" smtClean="0"/>
              <a:t>1 October 2026</a:t>
            </a:fld>
            <a:endParaRPr lang="en-IN"/>
          </a:p>
        </p:txBody>
      </p:sp>
      <p:sp>
        <p:nvSpPr>
          <p:cNvPr id="5" name="Footer Placeholder 4"/>
          <p:cNvSpPr>
            <a:spLocks noGrp="1"/>
          </p:cNvSpPr>
          <p:nvPr>
            <p:ph type="ftr" sz="quarter" idx="11"/>
          </p:nvPr>
        </p:nvSpPr>
        <p:spPr>
          <a:xfrm>
            <a:off x="4165600" y="6356353"/>
            <a:ext cx="7547024" cy="365125"/>
          </a:xfrm>
        </p:spPr>
        <p:txBody>
          <a:bodyPr/>
          <a:lstStyle/>
          <a:p>
            <a:endParaRPr lang="en-IN"/>
          </a:p>
        </p:txBody>
      </p:sp>
      <p:sp>
        <p:nvSpPr>
          <p:cNvPr id="6" name="Slide Number Placeholder 5"/>
          <p:cNvSpPr>
            <a:spLocks noGrp="1"/>
          </p:cNvSpPr>
          <p:nvPr>
            <p:ph type="sldNum" sz="quarter" idx="12"/>
          </p:nvPr>
        </p:nvSpPr>
        <p:spPr/>
        <p:txBody>
          <a:bodyPr/>
          <a:lstStyle/>
          <a:p>
            <a:fld id="{AE5629FF-3FC9-4ED2-8167-F1E9CD28EC76}" type="slidenum">
              <a:rPr lang="en-IN" smtClean="0"/>
              <a:pPr/>
              <a:t>‹#›</a:t>
            </a:fld>
            <a:endParaRPr lang="en-IN"/>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3339" y="-27061"/>
            <a:ext cx="1862765" cy="1397074"/>
          </a:xfrm>
          <a:prstGeom prst="rect">
            <a:avLst/>
          </a:prstGeom>
        </p:spPr>
      </p:pic>
      <p:sp>
        <p:nvSpPr>
          <p:cNvPr id="8" name="TextBox 7"/>
          <p:cNvSpPr txBox="1"/>
          <p:nvPr userDrawn="1"/>
        </p:nvSpPr>
        <p:spPr>
          <a:xfrm>
            <a:off x="7248130" y="449794"/>
            <a:ext cx="3095719" cy="369332"/>
          </a:xfrm>
          <a:prstGeom prst="rect">
            <a:avLst/>
          </a:prstGeom>
          <a:noFill/>
        </p:spPr>
        <p:txBody>
          <a:bodyPr wrap="none" rtlCol="0">
            <a:spAutoFit/>
          </a:bodyPr>
          <a:lstStyle/>
          <a:p>
            <a:r>
              <a:rPr lang="en-US" sz="1800" b="0" dirty="0">
                <a:solidFill>
                  <a:srgbClr val="00B0F0"/>
                </a:solidFill>
                <a:latin typeface="Times New Roman" panose="02020603050405020304" pitchFamily="18" charset="0"/>
                <a:cs typeface="Times New Roman" panose="02020603050405020304" pitchFamily="18" charset="0"/>
              </a:rPr>
              <a:t>Aditya Engineering College(A)</a:t>
            </a:r>
          </a:p>
        </p:txBody>
      </p:sp>
      <p:sp>
        <p:nvSpPr>
          <p:cNvPr id="10" name="Content Placeholder 9"/>
          <p:cNvSpPr>
            <a:spLocks noGrp="1"/>
          </p:cNvSpPr>
          <p:nvPr>
            <p:ph sz="quarter" idx="13"/>
          </p:nvPr>
        </p:nvSpPr>
        <p:spPr>
          <a:xfrm>
            <a:off x="8112125" y="65976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717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3351A7-5C5E-4743-B9A6-C943367A812C}" type="datetime3">
              <a:rPr lang="en-US" smtClean="0"/>
              <a:t>1 October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y\Desktop\Capture.PNG"/>
          <p:cNvPicPr>
            <a:picLocks noChangeAspect="1" noChangeArrowheads="1"/>
          </p:cNvPicPr>
          <p:nvPr/>
        </p:nvPicPr>
        <p:blipFill>
          <a:blip r:embed="rId2"/>
          <a:srcRect/>
          <a:stretch>
            <a:fillRect/>
          </a:stretch>
        </p:blipFill>
        <p:spPr bwMode="auto">
          <a:xfrm>
            <a:off x="2971800" y="303092"/>
            <a:ext cx="5867400" cy="838200"/>
          </a:xfrm>
          <a:prstGeom prst="rect">
            <a:avLst/>
          </a:prstGeom>
          <a:noFill/>
        </p:spPr>
      </p:pic>
      <p:sp>
        <p:nvSpPr>
          <p:cNvPr id="7" name="TextBox 6"/>
          <p:cNvSpPr txBox="1"/>
          <p:nvPr/>
        </p:nvSpPr>
        <p:spPr>
          <a:xfrm>
            <a:off x="647700" y="2197645"/>
            <a:ext cx="10515600" cy="984885"/>
          </a:xfrm>
          <a:prstGeom prst="rect">
            <a:avLst/>
          </a:prstGeom>
          <a:noFill/>
        </p:spPr>
        <p:txBody>
          <a:bodyPr wrap="square" rtlCol="0">
            <a:spAutoFit/>
          </a:bodyPr>
          <a:lstStyle/>
          <a:p>
            <a:pPr algn="ctr"/>
            <a:endParaRPr lang="en-US" sz="2800" b="1" dirty="0">
              <a:solidFill>
                <a:srgbClr val="009900"/>
              </a:solidFill>
              <a:latin typeface="Book Antiqua" panose="02040602050305030304" pitchFamily="18" charset="0"/>
              <a:cs typeface="Times New Roman" pitchFamily="18" charset="0"/>
            </a:endParaRPr>
          </a:p>
          <a:p>
            <a:pPr algn="ctr"/>
            <a:r>
              <a:rPr lang="en-US" sz="1500" dirty="0">
                <a:latin typeface="Maiandra GD"/>
              </a:rPr>
              <a:t>STREAMING DATA ANALYSIS AND VISUALIZATION</a:t>
            </a:r>
          </a:p>
          <a:p>
            <a:pPr algn="ctr"/>
            <a:endParaRPr sz="1500" dirty="0">
              <a:latin typeface="Maiandra GD"/>
            </a:endParaRPr>
          </a:p>
        </p:txBody>
      </p:sp>
      <p:sp>
        <p:nvSpPr>
          <p:cNvPr id="3" name="TextBox 2">
            <a:extLst>
              <a:ext uri="{FF2B5EF4-FFF2-40B4-BE49-F238E27FC236}">
                <a16:creationId xmlns:a16="http://schemas.microsoft.com/office/drawing/2014/main" id="{F01A6F3D-F6F9-9FD5-2242-DF7635CBD823}"/>
              </a:ext>
            </a:extLst>
          </p:cNvPr>
          <p:cNvSpPr txBox="1"/>
          <p:nvPr/>
        </p:nvSpPr>
        <p:spPr>
          <a:xfrm>
            <a:off x="2590800" y="1337101"/>
            <a:ext cx="6404262" cy="830997"/>
          </a:xfrm>
          <a:prstGeom prst="rect">
            <a:avLst/>
          </a:prstGeom>
          <a:noFill/>
        </p:spPr>
        <p:txBody>
          <a:bodyPr wrap="square">
            <a:spAutoFit/>
          </a:bodyPr>
          <a:lstStyle/>
          <a:p>
            <a:pPr algn="ctr"/>
            <a:r>
              <a:rPr lang="en-IN" sz="2400" dirty="0">
                <a:latin typeface="Maiandra GD"/>
              </a:rPr>
              <a:t>DATA ANALYSIS ESSENTIALS PROJECT PRESENTATION</a:t>
            </a:r>
            <a:endParaRPr lang="en-IN" sz="2400" b="1" dirty="0">
              <a:solidFill>
                <a:srgbClr val="009900"/>
              </a:solidFill>
              <a:latin typeface="Book Antiqua" panose="02040602050305030304" pitchFamily="18" charset="0"/>
              <a:cs typeface="Times New Roman" pitchFamily="18" charset="0"/>
            </a:endParaRPr>
          </a:p>
        </p:txBody>
      </p:sp>
      <p:sp>
        <p:nvSpPr>
          <p:cNvPr id="5" name="TextBox 4">
            <a:extLst>
              <a:ext uri="{FF2B5EF4-FFF2-40B4-BE49-F238E27FC236}">
                <a16:creationId xmlns:a16="http://schemas.microsoft.com/office/drawing/2014/main" id="{CC182D26-5831-45D0-F607-47B697E3DF21}"/>
              </a:ext>
            </a:extLst>
          </p:cNvPr>
          <p:cNvSpPr txBox="1"/>
          <p:nvPr/>
        </p:nvSpPr>
        <p:spPr>
          <a:xfrm>
            <a:off x="3300000" y="3120000"/>
            <a:ext cx="5000000" cy="2100000"/>
          </a:xfrm>
          <a:prstGeom prst="rect">
            <a:avLst/>
          </a:prstGeom>
          <a:noFill/>
        </p:spPr>
        <p:txBody>
          <a:bodyPr wrap="square">
            <a:spAutoFit/>
          </a:bodyPr>
          <a:lstStyle/>
          <a:p>
            <a:pPr algn="l">
              <a:defRPr sz="2400" b="1">
                <a:latin typeface="Aptos"/>
              </a:defRPr>
            </a:pPr>
            <a:r>
              <a:t>Presented by</a:t>
            </a:r>
          </a:p>
          <a:p>
            <a:pPr algn="l">
              <a:defRPr sz="2000" b="0">
                <a:latin typeface="Aptos"/>
              </a:defRPr>
            </a:pPr>
            <a:r>
              <a:t>N. Harsha Vardhan    -    25B11CS243</a:t>
            </a:r>
          </a:p>
          <a:p>
            <a:pPr algn="l">
              <a:defRPr sz="2000" b="0">
                <a:latin typeface="Aptos"/>
              </a:defRPr>
            </a:pPr>
            <a:r>
              <a:t>P. Chandrakanth      -    25B11CS715</a:t>
            </a:r>
          </a:p>
          <a:p>
            <a:pPr algn="l">
              <a:defRPr sz="2000" b="0">
                <a:latin typeface="Aptos"/>
              </a:defRPr>
            </a:pPr>
            <a:r>
              <a:t>M.N. Anvesh          -    25B11CS057</a:t>
            </a:r>
          </a:p>
          <a:p>
            <a:pPr algn="l">
              <a:defRPr sz="2000" b="0">
                <a:latin typeface="Aptos"/>
              </a:defRPr>
            </a:pPr>
            <a:r>
              <a:t>C.K. Kamal Basha     -    25B11CS148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5CE5D-80D7-7E51-544E-45D0C5F0D9BD}"/>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DC3832E2-58BD-3420-3DB8-4D92A72E57DB}"/>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4" name="Slide Number Placeholder 3">
            <a:extLst>
              <a:ext uri="{FF2B5EF4-FFF2-40B4-BE49-F238E27FC236}">
                <a16:creationId xmlns:a16="http://schemas.microsoft.com/office/drawing/2014/main" id="{CAC95B70-FEA9-4F89-5CD9-3ECB13E51424}"/>
              </a:ext>
            </a:extLst>
          </p:cNvPr>
          <p:cNvSpPr>
            <a:spLocks noGrp="1"/>
          </p:cNvSpPr>
          <p:nvPr>
            <p:ph type="sldNum" sz="quarter" idx="12"/>
          </p:nvPr>
        </p:nvSpPr>
        <p:spPr/>
        <p:txBody>
          <a:bodyPr/>
          <a:lstStyle/>
          <a:p>
            <a:fld id="{B6F15528-21DE-4FAA-801E-634DDDAF4B2B}" type="slidenum">
              <a:rPr lang="en-US" smtClean="0"/>
              <a:pPr/>
              <a:t>2</a:t>
            </a:fld>
            <a:endParaRPr lang="en-US"/>
          </a:p>
        </p:txBody>
      </p:sp>
      <p:grpSp>
        <p:nvGrpSpPr>
          <p:cNvPr id="7" name="Group 6">
            <a:extLst>
              <a:ext uri="{FF2B5EF4-FFF2-40B4-BE49-F238E27FC236}">
                <a16:creationId xmlns:a16="http://schemas.microsoft.com/office/drawing/2014/main" id="{E8D2F476-842F-6F48-36FC-0C6D8B2E55D0}"/>
              </a:ext>
            </a:extLst>
          </p:cNvPr>
          <p:cNvGrpSpPr/>
          <p:nvPr/>
        </p:nvGrpSpPr>
        <p:grpSpPr>
          <a:xfrm>
            <a:off x="2971800" y="51843"/>
            <a:ext cx="5464922" cy="1548679"/>
            <a:chOff x="12060383" y="1407596"/>
            <a:chExt cx="7085935" cy="1909355"/>
          </a:xfrm>
        </p:grpSpPr>
        <p:grpSp>
          <p:nvGrpSpPr>
            <p:cNvPr id="8" name="Group 7">
              <a:extLst>
                <a:ext uri="{FF2B5EF4-FFF2-40B4-BE49-F238E27FC236}">
                  <a16:creationId xmlns:a16="http://schemas.microsoft.com/office/drawing/2014/main" id="{5775F019-FFE0-2FA4-7C9C-6AD0E352A432}"/>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7B8A5548-836F-FE91-81C9-614A50D0FECF}"/>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2509FE48-EB07-7A73-784D-E66E74453F40}"/>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B5F5757B-8341-7E10-71A8-9D59EDC76EA2}"/>
                </a:ext>
              </a:extLst>
            </p:cNvPr>
            <p:cNvSpPr/>
            <p:nvPr/>
          </p:nvSpPr>
          <p:spPr>
            <a:xfrm>
              <a:off x="12060383" y="1556118"/>
              <a:ext cx="3106189" cy="595545"/>
            </a:xfrm>
            <a:prstGeom prst="rect">
              <a:avLst/>
            </a:prstGeom>
          </p:spPr>
          <p:txBody>
            <a:bodyPr wrap="square">
              <a:spAutoFit/>
            </a:bodyPr>
            <a:lstStyle/>
            <a:p>
              <a:endParaRPr b="1" dirty="0">
                <a:latin typeface="Maiandra GD"/>
              </a:endParaRPr>
            </a:p>
          </p:txBody>
        </p:sp>
      </p:grpSp>
      <p:sp>
        <p:nvSpPr>
          <p:cNvPr id="6" name="TextBox 5">
            <a:extLst>
              <a:ext uri="{FF2B5EF4-FFF2-40B4-BE49-F238E27FC236}">
                <a16:creationId xmlns:a16="http://schemas.microsoft.com/office/drawing/2014/main" id="{61940EF8-EAC9-C14E-0D44-AF23233323AE}"/>
              </a:ext>
            </a:extLst>
          </p:cNvPr>
          <p:cNvSpPr txBox="1"/>
          <p:nvPr/>
        </p:nvSpPr>
        <p:spPr>
          <a:xfrm>
            <a:off x="1219200" y="1149477"/>
            <a:ext cx="9753600" cy="1889748"/>
          </a:xfrm>
          <a:prstGeom prst="rect">
            <a:avLst/>
          </a:prstGeom>
          <a:noFill/>
        </p:spPr>
        <p:txBody>
          <a:bodyPr wrap="square" rtlCol="0" anchor="t">
            <a:spAutoFit/>
          </a:bodyPr>
          <a:lstStyle/>
          <a:p>
            <a:pPr>
              <a:lnSpc>
                <a:spcPct val="150000"/>
              </a:lnSpc>
              <a:spcAft>
                <a:spcPts val="700"/>
              </a:spcAft>
            </a:pPr>
            <a:r>
              <a:rPr lang="en-US" sz="2000" dirty="0"/>
              <a:t>Streaming data is continuously generated data that can be analyzed to identify patterns, trends, and unusual activities. This project focuses on analyzing household energy consumption data by simulating a continuous data stream and extracting meaningful insights from it.</a:t>
            </a:r>
            <a:endParaRPr sz="2000" dirty="0">
              <a:solidFill>
                <a:srgbClr val="1C2B3E"/>
              </a:solidFill>
              <a:latin typeface="Maiandra GD"/>
            </a:endParaRPr>
          </a:p>
        </p:txBody>
      </p:sp>
      <p:sp>
        <p:nvSpPr>
          <p:cNvPr id="12" name="TextBox 11">
            <a:extLst>
              <a:ext uri="{FF2B5EF4-FFF2-40B4-BE49-F238E27FC236}">
                <a16:creationId xmlns:a16="http://schemas.microsoft.com/office/drawing/2014/main" id="{D08AEA84-081B-C078-AF71-78B41B79A801}"/>
              </a:ext>
            </a:extLst>
          </p:cNvPr>
          <p:cNvSpPr txBox="1"/>
          <p:nvPr/>
        </p:nvSpPr>
        <p:spPr>
          <a:xfrm>
            <a:off x="4637705" y="364518"/>
            <a:ext cx="2916589" cy="461665"/>
          </a:xfrm>
          <a:prstGeom prst="rect">
            <a:avLst/>
          </a:prstGeom>
          <a:noFill/>
        </p:spPr>
        <p:txBody>
          <a:bodyPr wrap="square">
            <a:spAutoFit/>
          </a:bodyPr>
          <a:lstStyle/>
          <a:p>
            <a:r>
              <a:rPr lang="en-IN" sz="2400" b="1" dirty="0">
                <a:latin typeface="Maiandra GD"/>
              </a:rPr>
              <a:t>INTRODUCTION</a:t>
            </a:r>
          </a:p>
        </p:txBody>
      </p:sp>
      <p:sp>
        <p:nvSpPr>
          <p:cNvPr id="2" name="Rectangle 1">
            <a:extLst>
              <a:ext uri="{FF2B5EF4-FFF2-40B4-BE49-F238E27FC236}">
                <a16:creationId xmlns:a16="http://schemas.microsoft.com/office/drawing/2014/main" id="{DE07FA7E-3E6C-4BBE-BF2E-D0E3C8584754}"/>
              </a:ext>
            </a:extLst>
          </p:cNvPr>
          <p:cNvSpPr>
            <a:spLocks noChangeArrowheads="1"/>
          </p:cNvSpPr>
          <p:nvPr/>
        </p:nvSpPr>
        <p:spPr bwMode="auto">
          <a:xfrm>
            <a:off x="1219200" y="3187283"/>
            <a:ext cx="12475322"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Dataset:</a:t>
            </a:r>
            <a:r>
              <a:rPr kumimoji="0" lang="en-US" altLang="en-US" sz="2000" b="0" i="0" u="none" strike="noStrike" cap="none" normalizeH="0" baseline="0" dirty="0">
                <a:ln>
                  <a:noFill/>
                </a:ln>
                <a:solidFill>
                  <a:schemeClr val="tx1"/>
                </a:solidFill>
                <a:effectLst/>
                <a:latin typeface="Arial" panose="020B0604020202020204" pitchFamily="34" charset="0"/>
              </a:rPr>
              <a:t> Household Energy Consumption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Programming Language:</a:t>
            </a:r>
            <a:r>
              <a:rPr kumimoji="0" lang="en-US" altLang="en-US" sz="2000" b="0" i="0" u="none" strike="noStrike" cap="none" normalizeH="0" baseline="0" dirty="0">
                <a:ln>
                  <a:noFill/>
                </a:ln>
                <a:solidFill>
                  <a:schemeClr val="tx1"/>
                </a:solidFill>
                <a:effectLst/>
                <a:latin typeface="Arial" panose="020B0604020202020204" pitchFamily="34" charset="0"/>
              </a:rPr>
              <a:t> Python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Libraries:</a:t>
            </a:r>
            <a:r>
              <a:rPr kumimoji="0" lang="en-US" altLang="en-US" sz="2000" b="0" i="0" u="none" strike="noStrike" cap="none" normalizeH="0" baseline="0" dirty="0">
                <a:ln>
                  <a:noFill/>
                </a:ln>
                <a:solidFill>
                  <a:schemeClr val="tx1"/>
                </a:solidFill>
                <a:effectLst/>
                <a:latin typeface="Arial" panose="020B0604020202020204" pitchFamily="34" charset="0"/>
              </a:rPr>
              <a:t> Pandas, NumPy, Matplotlib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Analysis:</a:t>
            </a:r>
            <a:r>
              <a:rPr kumimoji="0" lang="en-US" altLang="en-US" sz="2000" b="0" i="0" u="none" strike="noStrike" cap="none" normalizeH="0" baseline="0" dirty="0">
                <a:ln>
                  <a:noFill/>
                </a:ln>
                <a:solidFill>
                  <a:schemeClr val="tx1"/>
                </a:solidFill>
                <a:effectLst/>
                <a:latin typeface="Arial" panose="020B0604020202020204" pitchFamily="34" charset="0"/>
              </a:rPr>
              <a:t> Consumption Trends, Peak Usage &amp; Anomalies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Visualization:</a:t>
            </a:r>
            <a:r>
              <a:rPr kumimoji="0" lang="en-US" altLang="en-US" sz="2000" b="0" i="0" u="none" strike="noStrike" cap="none" normalizeH="0" baseline="0" dirty="0">
                <a:ln>
                  <a:noFill/>
                </a:ln>
                <a:solidFill>
                  <a:schemeClr val="tx1"/>
                </a:solidFill>
                <a:effectLst/>
                <a:latin typeface="Arial" panose="020B0604020202020204" pitchFamily="34" charset="0"/>
              </a:rPr>
              <a:t> Time-based and Statistical Graphs </a:t>
            </a:r>
          </a:p>
        </p:txBody>
      </p:sp>
    </p:spTree>
    <p:extLst>
      <p:ext uri="{BB962C8B-B14F-4D97-AF65-F5344CB8AC3E}">
        <p14:creationId xmlns:p14="http://schemas.microsoft.com/office/powerpoint/2010/main" val="2789891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C31A0-9C94-373F-BC88-52AB0EF79135}"/>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C419D323-D0C0-468E-04F8-F3C2694BDF09}"/>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grpSp>
        <p:nvGrpSpPr>
          <p:cNvPr id="7" name="Group 6">
            <a:extLst>
              <a:ext uri="{FF2B5EF4-FFF2-40B4-BE49-F238E27FC236}">
                <a16:creationId xmlns:a16="http://schemas.microsoft.com/office/drawing/2014/main" id="{BB3997D1-2B9F-70ED-34A0-CBE1B533EDE4}"/>
              </a:ext>
            </a:extLst>
          </p:cNvPr>
          <p:cNvGrpSpPr/>
          <p:nvPr/>
        </p:nvGrpSpPr>
        <p:grpSpPr>
          <a:xfrm>
            <a:off x="3800686" y="-16668"/>
            <a:ext cx="4699000" cy="1509376"/>
            <a:chOff x="13004829" y="1407596"/>
            <a:chExt cx="6178980" cy="1909355"/>
          </a:xfrm>
        </p:grpSpPr>
        <p:grpSp>
          <p:nvGrpSpPr>
            <p:cNvPr id="8" name="Group 7">
              <a:extLst>
                <a:ext uri="{FF2B5EF4-FFF2-40B4-BE49-F238E27FC236}">
                  <a16:creationId xmlns:a16="http://schemas.microsoft.com/office/drawing/2014/main" id="{2D3FBB09-EFFC-9DEB-3FAE-FE8320DACE74}"/>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28CFF77A-4025-7E94-3ABC-81F717726812}"/>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F15D7F54-16DB-EA0A-13A0-761DC17465F0}"/>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5F3510C6-8371-DD4B-C39F-058D285F3578}"/>
                </a:ext>
              </a:extLst>
            </p:cNvPr>
            <p:cNvSpPr/>
            <p:nvPr/>
          </p:nvSpPr>
          <p:spPr>
            <a:xfrm>
              <a:off x="13548478" y="1521070"/>
              <a:ext cx="5635331" cy="570966"/>
            </a:xfrm>
            <a:prstGeom prst="rect">
              <a:avLst/>
            </a:prstGeom>
          </p:spPr>
          <p:txBody>
            <a:bodyPr wrap="square">
              <a:spAutoFit/>
            </a:bodyPr>
            <a:lstStyle/>
            <a:p>
              <a:endParaRPr b="1" dirty="0">
                <a:latin typeface="Maiandra GD"/>
              </a:endParaRPr>
            </a:p>
          </p:txBody>
        </p:sp>
      </p:grpSp>
      <p:sp>
        <p:nvSpPr>
          <p:cNvPr id="3" name="TextBox 2">
            <a:extLst>
              <a:ext uri="{FF2B5EF4-FFF2-40B4-BE49-F238E27FC236}">
                <a16:creationId xmlns:a16="http://schemas.microsoft.com/office/drawing/2014/main" id="{50F3E2D8-40E2-863D-BA04-6651DBC4FD34}"/>
              </a:ext>
            </a:extLst>
          </p:cNvPr>
          <p:cNvSpPr txBox="1"/>
          <p:nvPr/>
        </p:nvSpPr>
        <p:spPr>
          <a:xfrm>
            <a:off x="5045286" y="276355"/>
            <a:ext cx="2209800" cy="461665"/>
          </a:xfrm>
          <a:prstGeom prst="rect">
            <a:avLst/>
          </a:prstGeom>
          <a:noFill/>
        </p:spPr>
        <p:txBody>
          <a:bodyPr wrap="square">
            <a:spAutoFit/>
          </a:bodyPr>
          <a:lstStyle/>
          <a:p>
            <a:r>
              <a:rPr lang="en-IN" sz="2400" b="1" dirty="0">
                <a:latin typeface="Maiandra GD"/>
              </a:rPr>
              <a:t>OBJECTIVES</a:t>
            </a:r>
          </a:p>
        </p:txBody>
      </p:sp>
      <p:sp>
        <p:nvSpPr>
          <p:cNvPr id="5" name="Rectangle 2">
            <a:extLst>
              <a:ext uri="{FF2B5EF4-FFF2-40B4-BE49-F238E27FC236}">
                <a16:creationId xmlns:a16="http://schemas.microsoft.com/office/drawing/2014/main" id="{ED934688-A0AF-C1B4-9A71-58777C71CD51}"/>
              </a:ext>
            </a:extLst>
          </p:cNvPr>
          <p:cNvSpPr>
            <a:spLocks noChangeArrowheads="1"/>
          </p:cNvSpPr>
          <p:nvPr/>
        </p:nvSpPr>
        <p:spPr bwMode="auto">
          <a:xfrm>
            <a:off x="2590800" y="5908483"/>
            <a:ext cx="9946016" cy="560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3800053E-110B-CE52-EEAC-72529E0E775A}"/>
              </a:ext>
            </a:extLst>
          </p:cNvPr>
          <p:cNvSpPr>
            <a:spLocks noChangeArrowheads="1"/>
          </p:cNvSpPr>
          <p:nvPr/>
        </p:nvSpPr>
        <p:spPr bwMode="auto">
          <a:xfrm>
            <a:off x="533400" y="1527664"/>
            <a:ext cx="11087100"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a:t>The main objective of this project is to analyze energy consumption data using Python. The project focuses on cleaning and organizing the data using </a:t>
            </a:r>
            <a:r>
              <a:rPr lang="en-US" sz="2000" b="1" dirty="0"/>
              <a:t>Pandas</a:t>
            </a:r>
            <a:r>
              <a:rPr lang="en-US" sz="2000" dirty="0"/>
              <a:t>, performing basic calculations and statistical analysis using </a:t>
            </a:r>
            <a:r>
              <a:rPr lang="en-US" sz="2000" b="1" dirty="0"/>
              <a:t>NumPy</a:t>
            </a:r>
            <a:r>
              <a:rPr lang="en-US" sz="2000" dirty="0"/>
              <a:t>, and understanding how energy consumption changes over time.</a:t>
            </a:r>
          </a:p>
          <a:p>
            <a:pPr>
              <a:lnSpc>
                <a:spcPct val="150000"/>
              </a:lnSpc>
            </a:pPr>
            <a:endParaRPr lang="en-US" sz="2000" dirty="0"/>
          </a:p>
          <a:p>
            <a:pPr>
              <a:lnSpc>
                <a:spcPct val="150000"/>
              </a:lnSpc>
            </a:pPr>
            <a:r>
              <a:rPr lang="en-US" sz="2000" dirty="0"/>
              <a:t>The project also aims to simulate streaming data by processing energy readings continuously, identify unusual energy consumption values, and find peak consumption periods. Finally, </a:t>
            </a:r>
            <a:r>
              <a:rPr lang="en-US" sz="2000" b="1" dirty="0"/>
              <a:t>Matplotlib</a:t>
            </a:r>
            <a:r>
              <a:rPr lang="en-US" sz="2000" dirty="0"/>
              <a:t> is used to create graphs and charts so that the analyzed data and patterns can be easily understood.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745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FB3E1-6D1A-E8E0-06ED-9B8139CB0FAA}"/>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9AB91CF3-BF30-B21D-A1F7-723AE32FDCD5}"/>
              </a:ext>
            </a:extLst>
          </p:cNvPr>
          <p:cNvPicPr>
            <a:picLocks noChangeAspect="1" noChangeArrowheads="1"/>
          </p:cNvPicPr>
          <p:nvPr/>
        </p:nvPicPr>
        <p:blipFill>
          <a:blip r:embed="rId2"/>
          <a:srcRect/>
          <a:stretch>
            <a:fillRect/>
          </a:stretch>
        </p:blipFill>
        <p:spPr bwMode="auto">
          <a:xfrm>
            <a:off x="200303" y="160703"/>
            <a:ext cx="1543050" cy="600075"/>
          </a:xfrm>
          <a:prstGeom prst="rect">
            <a:avLst/>
          </a:prstGeom>
          <a:noFill/>
        </p:spPr>
      </p:pic>
      <p:sp>
        <p:nvSpPr>
          <p:cNvPr id="4" name="Slide Number Placeholder 3">
            <a:extLst>
              <a:ext uri="{FF2B5EF4-FFF2-40B4-BE49-F238E27FC236}">
                <a16:creationId xmlns:a16="http://schemas.microsoft.com/office/drawing/2014/main" id="{50A68A9E-B526-5205-951D-6BDC5F6F2D79}"/>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7" name="Group 6">
            <a:extLst>
              <a:ext uri="{FF2B5EF4-FFF2-40B4-BE49-F238E27FC236}">
                <a16:creationId xmlns:a16="http://schemas.microsoft.com/office/drawing/2014/main" id="{BDD31C9E-8235-BDE8-2C0A-B788E4A19299}"/>
              </a:ext>
            </a:extLst>
          </p:cNvPr>
          <p:cNvGrpSpPr/>
          <p:nvPr/>
        </p:nvGrpSpPr>
        <p:grpSpPr>
          <a:xfrm>
            <a:off x="2590800" y="121548"/>
            <a:ext cx="5707869" cy="1332052"/>
            <a:chOff x="11756478" y="1407596"/>
            <a:chExt cx="8500864" cy="1909355"/>
          </a:xfrm>
        </p:grpSpPr>
        <p:grpSp>
          <p:nvGrpSpPr>
            <p:cNvPr id="8" name="Group 7">
              <a:extLst>
                <a:ext uri="{FF2B5EF4-FFF2-40B4-BE49-F238E27FC236}">
                  <a16:creationId xmlns:a16="http://schemas.microsoft.com/office/drawing/2014/main" id="{58233303-643B-CDD9-8557-3311A038BD02}"/>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192CF556-ABA9-2256-F01B-DC598A68EAB8}"/>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11A046FB-83EA-4718-1E31-72B41B087F6D}"/>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DD35CFAF-4B75-AAB7-7C9D-DE27936BE6A1}"/>
                </a:ext>
              </a:extLst>
            </p:cNvPr>
            <p:cNvSpPr/>
            <p:nvPr/>
          </p:nvSpPr>
          <p:spPr>
            <a:xfrm>
              <a:off x="11756478" y="1582456"/>
              <a:ext cx="8500864" cy="529398"/>
            </a:xfrm>
            <a:prstGeom prst="rect">
              <a:avLst/>
            </a:prstGeom>
          </p:spPr>
          <p:txBody>
            <a:bodyPr wrap="square">
              <a:spAutoFit/>
            </a:bodyPr>
            <a:lstStyle/>
            <a:p>
              <a:endParaRPr b="1" dirty="0">
                <a:latin typeface="Maiandra GD"/>
              </a:endParaRPr>
            </a:p>
          </p:txBody>
        </p:sp>
      </p:grpSp>
      <p:sp>
        <p:nvSpPr>
          <p:cNvPr id="6" name="TextBox 5">
            <a:extLst>
              <a:ext uri="{FF2B5EF4-FFF2-40B4-BE49-F238E27FC236}">
                <a16:creationId xmlns:a16="http://schemas.microsoft.com/office/drawing/2014/main" id="{7BA628EB-8180-17C2-6B36-38E15A775385}"/>
              </a:ext>
            </a:extLst>
          </p:cNvPr>
          <p:cNvSpPr txBox="1"/>
          <p:nvPr/>
        </p:nvSpPr>
        <p:spPr>
          <a:xfrm>
            <a:off x="313060" y="1219985"/>
            <a:ext cx="12192000" cy="5200078"/>
          </a:xfrm>
          <a:prstGeom prst="rect">
            <a:avLst/>
          </a:prstGeom>
          <a:noFill/>
        </p:spPr>
        <p:txBody>
          <a:bodyPr wrap="square" rtlCol="0" anchor="t">
            <a:spAutoFit/>
          </a:bodyPr>
          <a:lstStyle/>
          <a:p>
            <a:pPr algn="just">
              <a:lnSpc>
                <a:spcPct val="150000"/>
              </a:lnSpc>
              <a:spcAft>
                <a:spcPts val="700"/>
              </a:spcAft>
            </a:pPr>
            <a:r>
              <a:rPr lang="en-US" sz="2200" b="1" dirty="0"/>
              <a:t>Data Processing:</a:t>
            </a:r>
            <a:r>
              <a:rPr lang="en-US" sz="2200" dirty="0"/>
              <a:t> Cleans and organizes the energy consumption data using Pandas. </a:t>
            </a:r>
          </a:p>
          <a:p>
            <a:pPr>
              <a:lnSpc>
                <a:spcPct val="150000"/>
              </a:lnSpc>
            </a:pPr>
            <a:r>
              <a:rPr lang="en-US" sz="2200" b="1" dirty="0"/>
              <a:t>Statistical Analysis:</a:t>
            </a:r>
            <a:r>
              <a:rPr lang="en-US" sz="2200" dirty="0"/>
              <a:t> Calculates important values such as mean, median, minimum, maximum, and standard deviation using NumPy. </a:t>
            </a:r>
          </a:p>
          <a:p>
            <a:pPr>
              <a:lnSpc>
                <a:spcPct val="150000"/>
              </a:lnSpc>
            </a:pPr>
            <a:r>
              <a:rPr lang="en-US" sz="2200" b="1" dirty="0"/>
              <a:t>Streaming Simulation:</a:t>
            </a:r>
            <a:r>
              <a:rPr lang="en-US" sz="2200" dirty="0"/>
              <a:t> Processes energy readings continuously to simulate a real-time data stream. </a:t>
            </a:r>
          </a:p>
          <a:p>
            <a:pPr>
              <a:lnSpc>
                <a:spcPct val="150000"/>
              </a:lnSpc>
            </a:pPr>
            <a:r>
              <a:rPr lang="en-US" sz="2200" b="1" dirty="0"/>
              <a:t>Average &amp; Trend Analysis:</a:t>
            </a:r>
            <a:r>
              <a:rPr lang="en-US" sz="2200" dirty="0"/>
              <a:t> Uses running and moving averages to understand energy consumption patterns. </a:t>
            </a:r>
          </a:p>
          <a:p>
            <a:pPr>
              <a:lnSpc>
                <a:spcPct val="150000"/>
              </a:lnSpc>
            </a:pPr>
            <a:r>
              <a:rPr lang="en-US" sz="2200" b="1" dirty="0"/>
              <a:t>Anomaly Detection:</a:t>
            </a:r>
            <a:r>
              <a:rPr lang="en-US" sz="2200" dirty="0"/>
              <a:t> Identifies unusually high energy consumption values. </a:t>
            </a:r>
          </a:p>
          <a:p>
            <a:pPr>
              <a:lnSpc>
                <a:spcPct val="150000"/>
              </a:lnSpc>
            </a:pPr>
            <a:r>
              <a:rPr lang="en-US" sz="2200" b="1" dirty="0"/>
              <a:t>Time-Based Analysis:</a:t>
            </a:r>
            <a:r>
              <a:rPr lang="en-US" sz="2200" dirty="0"/>
              <a:t> Finds the hours when energy consumption is higher or lower. </a:t>
            </a:r>
          </a:p>
          <a:p>
            <a:pPr>
              <a:lnSpc>
                <a:spcPct val="150000"/>
              </a:lnSpc>
            </a:pPr>
            <a:r>
              <a:rPr lang="en-US" sz="2200" b="1" dirty="0"/>
              <a:t>Data Visualization:</a:t>
            </a:r>
            <a:r>
              <a:rPr lang="en-US" sz="2200" dirty="0"/>
              <a:t> Uses Matplotlib to display energy consumption patterns through graphs and charts. </a:t>
            </a:r>
          </a:p>
          <a:p>
            <a:pPr>
              <a:lnSpc>
                <a:spcPct val="150000"/>
              </a:lnSpc>
              <a:spcAft>
                <a:spcPts val="700"/>
              </a:spcAft>
            </a:pPr>
            <a:endParaRPr sz="2200" dirty="0">
              <a:solidFill>
                <a:srgbClr val="1C2B3E"/>
              </a:solidFill>
              <a:latin typeface="Maiandra GD"/>
            </a:endParaRPr>
          </a:p>
        </p:txBody>
      </p:sp>
      <p:sp>
        <p:nvSpPr>
          <p:cNvPr id="3" name="TextBox 2">
            <a:extLst>
              <a:ext uri="{FF2B5EF4-FFF2-40B4-BE49-F238E27FC236}">
                <a16:creationId xmlns:a16="http://schemas.microsoft.com/office/drawing/2014/main" id="{B51A6D43-F4D8-365D-346D-4802BDBA75EA}"/>
              </a:ext>
            </a:extLst>
          </p:cNvPr>
          <p:cNvSpPr txBox="1"/>
          <p:nvPr/>
        </p:nvSpPr>
        <p:spPr>
          <a:xfrm>
            <a:off x="4401404" y="-116925"/>
            <a:ext cx="2007656" cy="954107"/>
          </a:xfrm>
          <a:prstGeom prst="rect">
            <a:avLst/>
          </a:prstGeom>
          <a:noFill/>
        </p:spPr>
        <p:txBody>
          <a:bodyPr wrap="square">
            <a:spAutoFit/>
          </a:bodyPr>
          <a:lstStyle/>
          <a:p>
            <a:pPr algn="ctr"/>
            <a:endParaRPr lang="en-IN" sz="2800" b="1" dirty="0">
              <a:latin typeface="Maiandra GD"/>
            </a:endParaRPr>
          </a:p>
          <a:p>
            <a:pPr algn="ctr"/>
            <a:r>
              <a:rPr lang="en-IN" sz="2800" b="1" dirty="0">
                <a:latin typeface="Maiandra GD"/>
              </a:rPr>
              <a:t>Features </a:t>
            </a:r>
          </a:p>
        </p:txBody>
      </p:sp>
    </p:spTree>
    <p:extLst>
      <p:ext uri="{BB962C8B-B14F-4D97-AF65-F5344CB8AC3E}">
        <p14:creationId xmlns:p14="http://schemas.microsoft.com/office/powerpoint/2010/main" val="382455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4FECD-C577-4D62-EA66-1931A8A6BBCF}"/>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84CEA91D-F035-1915-6126-0D35F6EF8A08}"/>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grpSp>
        <p:nvGrpSpPr>
          <p:cNvPr id="7" name="Group 6">
            <a:extLst>
              <a:ext uri="{FF2B5EF4-FFF2-40B4-BE49-F238E27FC236}">
                <a16:creationId xmlns:a16="http://schemas.microsoft.com/office/drawing/2014/main" id="{EC7B25DD-27B5-E798-C21F-CFA880C31FC1}"/>
              </a:ext>
            </a:extLst>
          </p:cNvPr>
          <p:cNvGrpSpPr/>
          <p:nvPr/>
        </p:nvGrpSpPr>
        <p:grpSpPr>
          <a:xfrm>
            <a:off x="2286000" y="41803"/>
            <a:ext cx="7426406" cy="1572113"/>
            <a:chOff x="12077442" y="1407596"/>
            <a:chExt cx="7799234" cy="1909355"/>
          </a:xfrm>
        </p:grpSpPr>
        <p:grpSp>
          <p:nvGrpSpPr>
            <p:cNvPr id="8" name="Group 7">
              <a:extLst>
                <a:ext uri="{FF2B5EF4-FFF2-40B4-BE49-F238E27FC236}">
                  <a16:creationId xmlns:a16="http://schemas.microsoft.com/office/drawing/2014/main" id="{D7663363-FD84-DCF1-34D8-E4D333FE5C21}"/>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7A424F85-03F8-50CC-86D8-3D5C6254E782}"/>
                  </a:ext>
                </a:extLst>
              </p:cNvPr>
              <p:cNvPicPr/>
              <p:nvPr/>
            </p:nvPicPr>
            <p:blipFill>
              <a:blip r:embed="rId4"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5C30E298-DC0D-7EA6-0308-630DA06D5BBA}"/>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C51BCA19-A329-CFAB-D4BD-3928376459B2}"/>
                </a:ext>
              </a:extLst>
            </p:cNvPr>
            <p:cNvSpPr/>
            <p:nvPr/>
          </p:nvSpPr>
          <p:spPr>
            <a:xfrm>
              <a:off x="12077442" y="1554229"/>
              <a:ext cx="7799234" cy="553778"/>
            </a:xfrm>
            <a:prstGeom prst="rect">
              <a:avLst/>
            </a:prstGeom>
          </p:spPr>
          <p:txBody>
            <a:bodyPr wrap="square">
              <a:spAutoFit/>
            </a:bodyPr>
            <a:lstStyle/>
            <a:p>
              <a:endParaRPr b="1" dirty="0">
                <a:latin typeface="Maiandra GD"/>
              </a:endParaRPr>
            </a:p>
          </p:txBody>
        </p:sp>
      </p:grpSp>
      <p:sp>
        <p:nvSpPr>
          <p:cNvPr id="5" name="TextBox 4">
            <a:extLst>
              <a:ext uri="{FF2B5EF4-FFF2-40B4-BE49-F238E27FC236}">
                <a16:creationId xmlns:a16="http://schemas.microsoft.com/office/drawing/2014/main" id="{8F137B26-F08B-B934-8B29-99D2E19DA557}"/>
              </a:ext>
            </a:extLst>
          </p:cNvPr>
          <p:cNvSpPr txBox="1"/>
          <p:nvPr/>
        </p:nvSpPr>
        <p:spPr>
          <a:xfrm>
            <a:off x="5141561" y="389195"/>
            <a:ext cx="2131291" cy="461665"/>
          </a:xfrm>
          <a:prstGeom prst="rect">
            <a:avLst/>
          </a:prstGeom>
          <a:noFill/>
        </p:spPr>
        <p:txBody>
          <a:bodyPr wrap="square">
            <a:spAutoFit/>
          </a:bodyPr>
          <a:lstStyle/>
          <a:p>
            <a:r>
              <a:rPr lang="en-IN" sz="2400" b="1" dirty="0">
                <a:latin typeface="Maiandra GD"/>
              </a:rPr>
              <a:t>DATASET</a:t>
            </a:r>
            <a:r>
              <a:rPr lang="en-IN" b="1" dirty="0">
                <a:latin typeface="Maiandra GD"/>
              </a:rPr>
              <a:t> </a:t>
            </a:r>
          </a:p>
        </p:txBody>
      </p:sp>
      <p:sp>
        <p:nvSpPr>
          <p:cNvPr id="21" name="Rectangle 10">
            <a:extLst>
              <a:ext uri="{FF2B5EF4-FFF2-40B4-BE49-F238E27FC236}">
                <a16:creationId xmlns:a16="http://schemas.microsoft.com/office/drawing/2014/main" id="{F4283DDE-B3E9-ADA9-38A4-D93CCD0EA1E4}"/>
              </a:ext>
            </a:extLst>
          </p:cNvPr>
          <p:cNvSpPr>
            <a:spLocks noChangeArrowheads="1"/>
          </p:cNvSpPr>
          <p:nvPr/>
        </p:nvSpPr>
        <p:spPr bwMode="auto">
          <a:xfrm>
            <a:off x="114300" y="1641348"/>
            <a:ext cx="11963400"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dataset used in this project contains </a:t>
            </a:r>
            <a:r>
              <a:rPr kumimoji="0" lang="en-US" altLang="en-US" sz="2400" b="1" i="0" u="none" strike="noStrike" cap="none" normalizeH="0" baseline="0" dirty="0">
                <a:ln>
                  <a:noFill/>
                </a:ln>
                <a:solidFill>
                  <a:schemeClr val="tx1"/>
                </a:solidFill>
                <a:effectLst/>
                <a:latin typeface="Arial" panose="020B0604020202020204" pitchFamily="34" charset="0"/>
              </a:rPr>
              <a:t>household energy consumption data</a:t>
            </a:r>
            <a:r>
              <a:rPr kumimoji="0" lang="en-US" altLang="en-US" sz="2400" b="0" i="0" u="none" strike="noStrike" cap="none" normalizeH="0" baseline="0" dirty="0">
                <a:ln>
                  <a:noFill/>
                </a:ln>
                <a:solidFill>
                  <a:schemeClr val="tx1"/>
                </a:solidFill>
                <a:effectLst/>
                <a:latin typeface="Arial" panose="020B0604020202020204" pitchFamily="34" charset="0"/>
              </a:rPr>
              <a:t> recorded at regular time intervals. It includes information about appliance energy usage along with temperature, humidity, and date-time measurements. In this project, we mainly use the </a:t>
            </a:r>
            <a:r>
              <a:rPr kumimoji="0" lang="en-US" altLang="en-US" sz="2400" b="1" i="0" u="none" strike="noStrike" cap="none" normalizeH="0" baseline="0" dirty="0">
                <a:ln>
                  <a:noFill/>
                </a:ln>
                <a:solidFill>
                  <a:schemeClr val="tx1"/>
                </a:solidFill>
                <a:effectLst/>
                <a:latin typeface="Arial" panose="020B0604020202020204" pitchFamily="34" charset="0"/>
              </a:rPr>
              <a:t>date</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Appliances</a:t>
            </a:r>
            <a:r>
              <a:rPr kumimoji="0" lang="en-US" altLang="en-US" sz="2400" b="0" i="0" u="none" strike="noStrike" cap="none" normalizeH="0" baseline="0" dirty="0">
                <a:ln>
                  <a:noFill/>
                </a:ln>
                <a:solidFill>
                  <a:schemeClr val="tx1"/>
                </a:solidFill>
                <a:effectLst/>
                <a:latin typeface="Arial" panose="020B0604020202020204" pitchFamily="34" charset="0"/>
              </a:rPr>
              <a:t> columns to study how energy consumption changes over time. The dataset helps us simulate streaming data, calculate energy consumption statistics, identify peak usage periods and unusual values, and visualize the results using </a:t>
            </a:r>
            <a:r>
              <a:rPr kumimoji="0" lang="en-US" altLang="en-US" sz="2400" b="1" i="0" u="none" strike="noStrike" cap="none" normalizeH="0" baseline="0" dirty="0">
                <a:ln>
                  <a:noFill/>
                </a:ln>
                <a:solidFill>
                  <a:schemeClr val="tx1"/>
                </a:solidFill>
                <a:effectLst/>
                <a:latin typeface="Arial" panose="020B0604020202020204" pitchFamily="34" charset="0"/>
              </a:rPr>
              <a:t>Pandas, NumPy, and Matplotlib</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90544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FE9D-A250-1470-24D7-C685BD4E10F4}"/>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76237B6B-8F91-C3CA-7BB6-CC7CEB0E864C}"/>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4" name="Slide Number Placeholder 3">
            <a:extLst>
              <a:ext uri="{FF2B5EF4-FFF2-40B4-BE49-F238E27FC236}">
                <a16:creationId xmlns:a16="http://schemas.microsoft.com/office/drawing/2014/main" id="{E7563A05-636A-BA3C-0B38-60326ED113EC}"/>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7" name="Group 6">
            <a:extLst>
              <a:ext uri="{FF2B5EF4-FFF2-40B4-BE49-F238E27FC236}">
                <a16:creationId xmlns:a16="http://schemas.microsoft.com/office/drawing/2014/main" id="{338651A0-2176-5C53-2F47-F5A40AF0E01A}"/>
              </a:ext>
            </a:extLst>
          </p:cNvPr>
          <p:cNvGrpSpPr/>
          <p:nvPr/>
        </p:nvGrpSpPr>
        <p:grpSpPr>
          <a:xfrm>
            <a:off x="2814660" y="95747"/>
            <a:ext cx="6489360" cy="1273409"/>
            <a:chOff x="12772982" y="1407596"/>
            <a:chExt cx="6581529" cy="1909355"/>
          </a:xfrm>
        </p:grpSpPr>
        <p:grpSp>
          <p:nvGrpSpPr>
            <p:cNvPr id="8" name="Group 7">
              <a:extLst>
                <a:ext uri="{FF2B5EF4-FFF2-40B4-BE49-F238E27FC236}">
                  <a16:creationId xmlns:a16="http://schemas.microsoft.com/office/drawing/2014/main" id="{E2E07C6F-8B78-54CF-65E3-D238B17B1957}"/>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1535A6CB-0AA8-DEFE-F72A-3E9360E1EC65}"/>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9FD51955-9998-0FB5-3F08-ED687165F8AD}"/>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9D0A2BD9-7C18-0EF6-B130-46E9BCE89516}"/>
                </a:ext>
              </a:extLst>
            </p:cNvPr>
            <p:cNvSpPr/>
            <p:nvPr/>
          </p:nvSpPr>
          <p:spPr>
            <a:xfrm>
              <a:off x="12772982" y="1569950"/>
              <a:ext cx="6581529" cy="553778"/>
            </a:xfrm>
            <a:prstGeom prst="rect">
              <a:avLst/>
            </a:prstGeom>
          </p:spPr>
          <p:txBody>
            <a:bodyPr wrap="square">
              <a:spAutoFit/>
            </a:bodyPr>
            <a:lstStyle/>
            <a:p>
              <a:endParaRPr b="1" dirty="0">
                <a:latin typeface="Maiandra GD"/>
              </a:endParaRPr>
            </a:p>
          </p:txBody>
        </p:sp>
      </p:grpSp>
      <p:sp>
        <p:nvSpPr>
          <p:cNvPr id="2051" name="Rounded Rectangle 2050"/>
          <p:cNvSpPr/>
          <p:nvPr/>
        </p:nvSpPr>
        <p:spPr>
          <a:xfrm>
            <a:off x="749808" y="1554480"/>
            <a:ext cx="3063240" cy="109728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Rectangle 2051"/>
          <p:cNvSpPr/>
          <p:nvPr/>
        </p:nvSpPr>
        <p:spPr>
          <a:xfrm>
            <a:off x="749808" y="1554480"/>
            <a:ext cx="73152" cy="10972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TextBox 2052"/>
          <p:cNvSpPr txBox="1"/>
          <p:nvPr/>
        </p:nvSpPr>
        <p:spPr>
          <a:xfrm>
            <a:off x="914400" y="1645920"/>
            <a:ext cx="2788920" cy="320040"/>
          </a:xfrm>
          <a:prstGeom prst="rect">
            <a:avLst/>
          </a:prstGeom>
          <a:noFill/>
        </p:spPr>
        <p:txBody>
          <a:bodyPr wrap="none">
            <a:spAutoFit/>
          </a:bodyPr>
          <a:lstStyle/>
          <a:p>
            <a:pPr>
              <a:defRPr sz="1250" b="1">
                <a:solidFill>
                  <a:srgbClr val="1C2B3E"/>
                </a:solidFill>
                <a:latin typeface="Maiandra GD"/>
              </a:defRPr>
            </a:pPr>
            <a:r>
              <a:t>Sensor / IoT</a:t>
            </a:r>
          </a:p>
        </p:txBody>
      </p:sp>
      <p:sp>
        <p:nvSpPr>
          <p:cNvPr id="2054" name="TextBox 2053"/>
          <p:cNvSpPr txBox="1"/>
          <p:nvPr/>
        </p:nvSpPr>
        <p:spPr>
          <a:xfrm>
            <a:off x="914400" y="2029967"/>
            <a:ext cx="2788920" cy="548640"/>
          </a:xfrm>
          <a:prstGeom prst="rect">
            <a:avLst/>
          </a:prstGeom>
          <a:noFill/>
        </p:spPr>
        <p:txBody>
          <a:bodyPr wrap="none">
            <a:spAutoFit/>
          </a:bodyPr>
          <a:lstStyle/>
          <a:p>
            <a:pPr>
              <a:defRPr sz="1019">
                <a:solidFill>
                  <a:srgbClr val="646E78"/>
                </a:solidFill>
                <a:latin typeface="Maiandra GD"/>
              </a:defRPr>
            </a:pPr>
            <a:r>
              <a:t>Continuous measurements from connected devices.</a:t>
            </a:r>
          </a:p>
        </p:txBody>
      </p:sp>
      <p:sp>
        <p:nvSpPr>
          <p:cNvPr id="2055" name="Rounded Rectangle 2054"/>
          <p:cNvSpPr/>
          <p:nvPr/>
        </p:nvSpPr>
        <p:spPr>
          <a:xfrm>
            <a:off x="749808" y="2852928"/>
            <a:ext cx="3063240" cy="109728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Rectangle 2055"/>
          <p:cNvSpPr/>
          <p:nvPr/>
        </p:nvSpPr>
        <p:spPr>
          <a:xfrm>
            <a:off x="749808" y="2852928"/>
            <a:ext cx="73152" cy="1097280"/>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TextBox 2056"/>
          <p:cNvSpPr txBox="1"/>
          <p:nvPr/>
        </p:nvSpPr>
        <p:spPr>
          <a:xfrm>
            <a:off x="914400" y="2944368"/>
            <a:ext cx="2788920" cy="320040"/>
          </a:xfrm>
          <a:prstGeom prst="rect">
            <a:avLst/>
          </a:prstGeom>
          <a:noFill/>
        </p:spPr>
        <p:txBody>
          <a:bodyPr wrap="none">
            <a:spAutoFit/>
          </a:bodyPr>
          <a:lstStyle/>
          <a:p>
            <a:pPr>
              <a:defRPr sz="1250" b="1">
                <a:solidFill>
                  <a:srgbClr val="1C2B3E"/>
                </a:solidFill>
                <a:latin typeface="Maiandra GD"/>
              </a:defRPr>
            </a:pPr>
            <a:r>
              <a:t>API / Live Source</a:t>
            </a:r>
          </a:p>
        </p:txBody>
      </p:sp>
      <p:sp>
        <p:nvSpPr>
          <p:cNvPr id="2058" name="TextBox 2057"/>
          <p:cNvSpPr txBox="1"/>
          <p:nvPr/>
        </p:nvSpPr>
        <p:spPr>
          <a:xfrm>
            <a:off x="914400" y="3328416"/>
            <a:ext cx="2788920" cy="548640"/>
          </a:xfrm>
          <a:prstGeom prst="rect">
            <a:avLst/>
          </a:prstGeom>
          <a:noFill/>
        </p:spPr>
        <p:txBody>
          <a:bodyPr wrap="none">
            <a:spAutoFit/>
          </a:bodyPr>
          <a:lstStyle/>
          <a:p>
            <a:pPr>
              <a:defRPr sz="1019">
                <a:solidFill>
                  <a:srgbClr val="646E78"/>
                </a:solidFill>
                <a:latin typeface="Maiandra GD"/>
              </a:defRPr>
            </a:pPr>
            <a:r>
              <a:t>Timestamped events received from an external service.</a:t>
            </a:r>
          </a:p>
        </p:txBody>
      </p:sp>
      <p:sp>
        <p:nvSpPr>
          <p:cNvPr id="2059" name="Rounded Rectangle 2058"/>
          <p:cNvSpPr/>
          <p:nvPr/>
        </p:nvSpPr>
        <p:spPr>
          <a:xfrm>
            <a:off x="749808" y="4151376"/>
            <a:ext cx="3063240" cy="109728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Rectangle 2059"/>
          <p:cNvSpPr/>
          <p:nvPr/>
        </p:nvSpPr>
        <p:spPr>
          <a:xfrm>
            <a:off x="749808" y="4151376"/>
            <a:ext cx="73152" cy="10972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TextBox 2060"/>
          <p:cNvSpPr txBox="1"/>
          <p:nvPr/>
        </p:nvSpPr>
        <p:spPr>
          <a:xfrm>
            <a:off x="914400" y="4242816"/>
            <a:ext cx="2788920" cy="320040"/>
          </a:xfrm>
          <a:prstGeom prst="rect">
            <a:avLst/>
          </a:prstGeom>
          <a:noFill/>
        </p:spPr>
        <p:txBody>
          <a:bodyPr wrap="none">
            <a:spAutoFit/>
          </a:bodyPr>
          <a:lstStyle/>
          <a:p>
            <a:pPr>
              <a:defRPr sz="1250" b="1">
                <a:solidFill>
                  <a:srgbClr val="1C2B3E"/>
                </a:solidFill>
                <a:latin typeface="Maiandra GD"/>
              </a:defRPr>
            </a:pPr>
            <a:r>
              <a:t>CSV / Simulator</a:t>
            </a:r>
          </a:p>
        </p:txBody>
      </p:sp>
      <p:sp>
        <p:nvSpPr>
          <p:cNvPr id="2062" name="TextBox 2061"/>
          <p:cNvSpPr txBox="1"/>
          <p:nvPr/>
        </p:nvSpPr>
        <p:spPr>
          <a:xfrm>
            <a:off x="914400" y="4626864"/>
            <a:ext cx="2788920" cy="548640"/>
          </a:xfrm>
          <a:prstGeom prst="rect">
            <a:avLst/>
          </a:prstGeom>
          <a:noFill/>
        </p:spPr>
        <p:txBody>
          <a:bodyPr wrap="none">
            <a:spAutoFit/>
          </a:bodyPr>
          <a:lstStyle/>
          <a:p>
            <a:pPr>
              <a:defRPr sz="1019">
                <a:solidFill>
                  <a:srgbClr val="646E78"/>
                </a:solidFill>
                <a:latin typeface="Maiandra GD"/>
              </a:defRPr>
            </a:pPr>
            <a:r>
              <a:t>Useful for testing and replaying a streaming dataset.</a:t>
            </a:r>
          </a:p>
        </p:txBody>
      </p:sp>
      <p:sp>
        <p:nvSpPr>
          <p:cNvPr id="2063" name="Rounded Rectangle 2062"/>
          <p:cNvSpPr/>
          <p:nvPr/>
        </p:nvSpPr>
        <p:spPr>
          <a:xfrm>
            <a:off x="4142232" y="2578608"/>
            <a:ext cx="233172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Rectangle 2063"/>
          <p:cNvSpPr/>
          <p:nvPr/>
        </p:nvSpPr>
        <p:spPr>
          <a:xfrm>
            <a:off x="4343400" y="2578608"/>
            <a:ext cx="73152" cy="1417320"/>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TextBox 2064"/>
          <p:cNvSpPr txBox="1"/>
          <p:nvPr/>
        </p:nvSpPr>
        <p:spPr>
          <a:xfrm>
            <a:off x="4507992" y="2670048"/>
            <a:ext cx="2057400" cy="320040"/>
          </a:xfrm>
          <a:prstGeom prst="rect">
            <a:avLst/>
          </a:prstGeom>
          <a:noFill/>
        </p:spPr>
        <p:txBody>
          <a:bodyPr wrap="none">
            <a:spAutoFit/>
          </a:bodyPr>
          <a:lstStyle/>
          <a:p>
            <a:pPr>
              <a:defRPr sz="1250" b="1">
                <a:solidFill>
                  <a:srgbClr val="1C2B3E"/>
                </a:solidFill>
                <a:latin typeface="Maiandra GD"/>
              </a:defRPr>
            </a:pPr>
            <a:r>
              <a:t>Python / Pandas</a:t>
            </a:r>
          </a:p>
        </p:txBody>
      </p:sp>
      <p:sp>
        <p:nvSpPr>
          <p:cNvPr id="2066" name="TextBox 2065"/>
          <p:cNvSpPr txBox="1"/>
          <p:nvPr/>
        </p:nvSpPr>
        <p:spPr>
          <a:xfrm>
            <a:off x="4462272" y="3178439"/>
            <a:ext cx="1862328" cy="406009"/>
          </a:xfrm>
          <a:prstGeom prst="rect">
            <a:avLst/>
          </a:prstGeom>
          <a:noFill/>
        </p:spPr>
        <p:txBody>
          <a:bodyPr wrap="square">
            <a:spAutoFit/>
          </a:bodyPr>
          <a:lstStyle/>
          <a:p>
            <a:pPr>
              <a:defRPr sz="1019">
                <a:solidFill>
                  <a:srgbClr val="646E78"/>
                </a:solidFill>
                <a:latin typeface="Maiandra GD"/>
              </a:defRPr>
            </a:pPr>
            <a:r>
              <a:rPr dirty="0"/>
              <a:t>Import → validate → clean → transform</a:t>
            </a:r>
          </a:p>
        </p:txBody>
      </p:sp>
      <p:sp>
        <p:nvSpPr>
          <p:cNvPr id="2067" name="Rounded Rectangle 2066"/>
          <p:cNvSpPr/>
          <p:nvPr/>
        </p:nvSpPr>
        <p:spPr>
          <a:xfrm>
            <a:off x="7360920" y="1627632"/>
            <a:ext cx="3886200" cy="2926080"/>
          </a:xfrm>
          <a:prstGeom prst="round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Rounded Rectangle 2067"/>
          <p:cNvSpPr/>
          <p:nvPr/>
        </p:nvSpPr>
        <p:spPr>
          <a:xfrm>
            <a:off x="7315200" y="1572768"/>
            <a:ext cx="3886200" cy="29260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0" name="TextBox 2069"/>
          <p:cNvSpPr txBox="1"/>
          <p:nvPr/>
        </p:nvSpPr>
        <p:spPr>
          <a:xfrm>
            <a:off x="7315200" y="4526280"/>
            <a:ext cx="3886200" cy="274320"/>
          </a:xfrm>
          <a:prstGeom prst="rect">
            <a:avLst/>
          </a:prstGeom>
          <a:noFill/>
        </p:spPr>
        <p:txBody>
          <a:bodyPr wrap="none">
            <a:spAutoFit/>
          </a:bodyPr>
          <a:lstStyle/>
          <a:p>
            <a:pPr>
              <a:defRPr sz="800" i="1">
                <a:solidFill>
                  <a:srgbClr val="646E78"/>
                </a:solidFill>
                <a:latin typeface="Maiandra GD"/>
              </a:defRPr>
            </a:pPr>
            <a:r>
              <a:t>Streaming data monitoring concept</a:t>
            </a:r>
          </a:p>
        </p:txBody>
      </p:sp>
      <p:sp>
        <p:nvSpPr>
          <p:cNvPr id="3" name="TextBox 2">
            <a:extLst>
              <a:ext uri="{FF2B5EF4-FFF2-40B4-BE49-F238E27FC236}">
                <a16:creationId xmlns:a16="http://schemas.microsoft.com/office/drawing/2014/main" id="{55168D37-CC3E-5838-099B-0962C064744B}"/>
              </a:ext>
            </a:extLst>
          </p:cNvPr>
          <p:cNvSpPr txBox="1"/>
          <p:nvPr/>
        </p:nvSpPr>
        <p:spPr>
          <a:xfrm>
            <a:off x="4154050" y="340568"/>
            <a:ext cx="6099462" cy="369332"/>
          </a:xfrm>
          <a:prstGeom prst="rect">
            <a:avLst/>
          </a:prstGeom>
          <a:noFill/>
        </p:spPr>
        <p:txBody>
          <a:bodyPr wrap="square">
            <a:spAutoFit/>
          </a:bodyPr>
          <a:lstStyle/>
          <a:p>
            <a:r>
              <a:rPr lang="en-IN" b="1" dirty="0">
                <a:latin typeface="Maiandra GD"/>
              </a:rPr>
              <a:t>DATA COLLECTION &amp; IMPORT</a:t>
            </a:r>
          </a:p>
        </p:txBody>
      </p:sp>
      <p:pic>
        <p:nvPicPr>
          <p:cNvPr id="2071" name="Picture 2070" descr="crop_10.jpg"/>
          <p:cNvPicPr>
            <a:picLocks noChangeAspect="1"/>
          </p:cNvPicPr>
          <p:nvPr/>
        </p:nvPicPr>
        <p:blipFill>
          <a:blip r:embed="rId4"/>
          <a:stretch>
            <a:fillRect/>
          </a:stretch>
        </p:blipFill>
        <p:spPr>
          <a:xfrm>
            <a:off x="7370064" y="1627632"/>
            <a:ext cx="3776472" cy="2816352"/>
          </a:xfrm>
          <a:prstGeom prst="rect">
            <a:avLst/>
          </a:prstGeom>
        </p:spPr>
      </p:pic>
    </p:spTree>
    <p:extLst>
      <p:ext uri="{BB962C8B-B14F-4D97-AF65-F5344CB8AC3E}">
        <p14:creationId xmlns:p14="http://schemas.microsoft.com/office/powerpoint/2010/main" val="155620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DE137-4505-25F7-88B0-7722B77FF138}"/>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50EFF81E-75DC-596C-6AC4-6760DA8E8350}"/>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4" name="Slide Number Placeholder 3">
            <a:extLst>
              <a:ext uri="{FF2B5EF4-FFF2-40B4-BE49-F238E27FC236}">
                <a16:creationId xmlns:a16="http://schemas.microsoft.com/office/drawing/2014/main" id="{D3ED29DD-7A2C-8928-8333-E3B22C3F399B}"/>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7" name="Group 6">
            <a:extLst>
              <a:ext uri="{FF2B5EF4-FFF2-40B4-BE49-F238E27FC236}">
                <a16:creationId xmlns:a16="http://schemas.microsoft.com/office/drawing/2014/main" id="{395E3633-269D-9B89-A468-BC4BCDD41A9F}"/>
              </a:ext>
            </a:extLst>
          </p:cNvPr>
          <p:cNvGrpSpPr/>
          <p:nvPr/>
        </p:nvGrpSpPr>
        <p:grpSpPr>
          <a:xfrm>
            <a:off x="2362201" y="187499"/>
            <a:ext cx="7690012" cy="1273409"/>
            <a:chOff x="12077442" y="1407596"/>
            <a:chExt cx="7799234" cy="1909355"/>
          </a:xfrm>
        </p:grpSpPr>
        <p:grpSp>
          <p:nvGrpSpPr>
            <p:cNvPr id="8" name="Group 7">
              <a:extLst>
                <a:ext uri="{FF2B5EF4-FFF2-40B4-BE49-F238E27FC236}">
                  <a16:creationId xmlns:a16="http://schemas.microsoft.com/office/drawing/2014/main" id="{601A705E-AEAF-C531-2542-0A5050284BB3}"/>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36165951-B417-C7F4-D1ED-10899ACE0784}"/>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54828805-9B3B-4A46-41D3-A3FAF2AD15F8}"/>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540F4FE9-E9AC-088C-A2FF-EDFE5B760478}"/>
                </a:ext>
              </a:extLst>
            </p:cNvPr>
            <p:cNvSpPr/>
            <p:nvPr/>
          </p:nvSpPr>
          <p:spPr>
            <a:xfrm>
              <a:off x="12077442" y="1554229"/>
              <a:ext cx="7799234" cy="553778"/>
            </a:xfrm>
            <a:prstGeom prst="rect">
              <a:avLst/>
            </a:prstGeom>
          </p:spPr>
          <p:txBody>
            <a:bodyPr wrap="square">
              <a:spAutoFit/>
            </a:bodyPr>
            <a:lstStyle/>
            <a:p>
              <a:endParaRPr b="1" dirty="0">
                <a:latin typeface="Maiandra GD"/>
              </a:endParaRPr>
            </a:p>
          </p:txBody>
        </p:sp>
      </p:grpSp>
      <p:sp>
        <p:nvSpPr>
          <p:cNvPr id="2051" name="Rounded Rectangle 2050"/>
          <p:cNvSpPr/>
          <p:nvPr/>
        </p:nvSpPr>
        <p:spPr>
          <a:xfrm>
            <a:off x="713232" y="148132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Rectangle 2051"/>
          <p:cNvSpPr/>
          <p:nvPr/>
        </p:nvSpPr>
        <p:spPr>
          <a:xfrm>
            <a:off x="713232" y="1481328"/>
            <a:ext cx="73152" cy="111556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TextBox 2052"/>
          <p:cNvSpPr txBox="1"/>
          <p:nvPr/>
        </p:nvSpPr>
        <p:spPr>
          <a:xfrm>
            <a:off x="877824" y="1572768"/>
            <a:ext cx="2788920" cy="320040"/>
          </a:xfrm>
          <a:prstGeom prst="rect">
            <a:avLst/>
          </a:prstGeom>
          <a:noFill/>
        </p:spPr>
        <p:txBody>
          <a:bodyPr wrap="none">
            <a:spAutoFit/>
          </a:bodyPr>
          <a:lstStyle/>
          <a:p>
            <a:pPr>
              <a:defRPr sz="1250" b="1">
                <a:solidFill>
                  <a:srgbClr val="1C2B3E"/>
                </a:solidFill>
                <a:latin typeface="Maiandra GD"/>
              </a:defRPr>
            </a:pPr>
            <a:r>
              <a:t>1. Missing Values</a:t>
            </a:r>
          </a:p>
        </p:txBody>
      </p:sp>
      <p:sp>
        <p:nvSpPr>
          <p:cNvPr id="2054" name="TextBox 2053"/>
          <p:cNvSpPr txBox="1"/>
          <p:nvPr/>
        </p:nvSpPr>
        <p:spPr>
          <a:xfrm>
            <a:off x="877824" y="1956816"/>
            <a:ext cx="2621756" cy="406009"/>
          </a:xfrm>
          <a:prstGeom prst="rect">
            <a:avLst/>
          </a:prstGeom>
          <a:noFill/>
        </p:spPr>
        <p:txBody>
          <a:bodyPr wrap="square">
            <a:spAutoFit/>
          </a:bodyPr>
          <a:lstStyle/>
          <a:p>
            <a:pPr>
              <a:defRPr sz="1019">
                <a:solidFill>
                  <a:srgbClr val="646E78"/>
                </a:solidFill>
                <a:latin typeface="Maiandra GD"/>
              </a:defRPr>
            </a:pPr>
            <a:r>
              <a:t>Find empty readings and fill/remove them using a documented rule.</a:t>
            </a:r>
          </a:p>
        </p:txBody>
      </p:sp>
      <p:sp>
        <p:nvSpPr>
          <p:cNvPr id="2055" name="Rounded Rectangle 2054"/>
          <p:cNvSpPr/>
          <p:nvPr/>
        </p:nvSpPr>
        <p:spPr>
          <a:xfrm>
            <a:off x="713232" y="276148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Rectangle 2055"/>
          <p:cNvSpPr/>
          <p:nvPr/>
        </p:nvSpPr>
        <p:spPr>
          <a:xfrm>
            <a:off x="713232" y="2761488"/>
            <a:ext cx="73152" cy="1115568"/>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TextBox 2056"/>
          <p:cNvSpPr txBox="1"/>
          <p:nvPr/>
        </p:nvSpPr>
        <p:spPr>
          <a:xfrm>
            <a:off x="877824" y="2852928"/>
            <a:ext cx="2788920" cy="320040"/>
          </a:xfrm>
          <a:prstGeom prst="rect">
            <a:avLst/>
          </a:prstGeom>
          <a:noFill/>
        </p:spPr>
        <p:txBody>
          <a:bodyPr wrap="none">
            <a:spAutoFit/>
          </a:bodyPr>
          <a:lstStyle/>
          <a:p>
            <a:pPr>
              <a:defRPr sz="1250" b="1">
                <a:solidFill>
                  <a:srgbClr val="1C2B3E"/>
                </a:solidFill>
                <a:latin typeface="Maiandra GD"/>
              </a:defRPr>
            </a:pPr>
            <a:r>
              <a:t>2. Duplicate Records</a:t>
            </a:r>
          </a:p>
        </p:txBody>
      </p:sp>
      <p:sp>
        <p:nvSpPr>
          <p:cNvPr id="2058" name="TextBox 2057"/>
          <p:cNvSpPr txBox="1"/>
          <p:nvPr/>
        </p:nvSpPr>
        <p:spPr>
          <a:xfrm>
            <a:off x="877824" y="3236976"/>
            <a:ext cx="2621756" cy="406009"/>
          </a:xfrm>
          <a:prstGeom prst="rect">
            <a:avLst/>
          </a:prstGeom>
          <a:noFill/>
        </p:spPr>
        <p:txBody>
          <a:bodyPr wrap="square">
            <a:spAutoFit/>
          </a:bodyPr>
          <a:lstStyle/>
          <a:p>
            <a:pPr>
              <a:defRPr sz="1019">
                <a:solidFill>
                  <a:srgbClr val="646E78"/>
                </a:solidFill>
                <a:latin typeface="Maiandra GD"/>
              </a:defRPr>
            </a:pPr>
            <a:r>
              <a:rPr dirty="0"/>
              <a:t>Detect repeated events using event ID or timestamp + sensor.</a:t>
            </a:r>
          </a:p>
        </p:txBody>
      </p:sp>
      <p:sp>
        <p:nvSpPr>
          <p:cNvPr id="2059" name="Rounded Rectangle 2058"/>
          <p:cNvSpPr/>
          <p:nvPr/>
        </p:nvSpPr>
        <p:spPr>
          <a:xfrm>
            <a:off x="713232" y="404164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Rectangle 2059"/>
          <p:cNvSpPr/>
          <p:nvPr/>
        </p:nvSpPr>
        <p:spPr>
          <a:xfrm>
            <a:off x="713232" y="4041648"/>
            <a:ext cx="73152" cy="111556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TextBox 2060"/>
          <p:cNvSpPr txBox="1"/>
          <p:nvPr/>
        </p:nvSpPr>
        <p:spPr>
          <a:xfrm>
            <a:off x="877824" y="4133087"/>
            <a:ext cx="2788920" cy="320040"/>
          </a:xfrm>
          <a:prstGeom prst="rect">
            <a:avLst/>
          </a:prstGeom>
          <a:noFill/>
        </p:spPr>
        <p:txBody>
          <a:bodyPr wrap="none">
            <a:spAutoFit/>
          </a:bodyPr>
          <a:lstStyle/>
          <a:p>
            <a:pPr>
              <a:defRPr sz="1250" b="1">
                <a:solidFill>
                  <a:srgbClr val="1C2B3E"/>
                </a:solidFill>
                <a:latin typeface="Maiandra GD"/>
              </a:defRPr>
            </a:pPr>
            <a:r>
              <a:t>3. Outliers</a:t>
            </a:r>
          </a:p>
        </p:txBody>
      </p:sp>
      <p:sp>
        <p:nvSpPr>
          <p:cNvPr id="2062" name="TextBox 2061"/>
          <p:cNvSpPr txBox="1"/>
          <p:nvPr/>
        </p:nvSpPr>
        <p:spPr>
          <a:xfrm>
            <a:off x="877824" y="4517136"/>
            <a:ext cx="2398777" cy="406009"/>
          </a:xfrm>
          <a:prstGeom prst="rect">
            <a:avLst/>
          </a:prstGeom>
          <a:noFill/>
        </p:spPr>
        <p:txBody>
          <a:bodyPr wrap="square">
            <a:spAutoFit/>
          </a:bodyPr>
          <a:lstStyle/>
          <a:p>
            <a:pPr>
              <a:defRPr sz="1019">
                <a:solidFill>
                  <a:srgbClr val="646E78"/>
                </a:solidFill>
                <a:latin typeface="Maiandra GD"/>
              </a:defRPr>
            </a:pPr>
            <a:r>
              <a:rPr dirty="0"/>
              <a:t>Check unusual values with domain rules, IQR or z-score.</a:t>
            </a:r>
          </a:p>
        </p:txBody>
      </p:sp>
      <p:sp>
        <p:nvSpPr>
          <p:cNvPr id="2063" name="Rounded Rectangle 2062"/>
          <p:cNvSpPr/>
          <p:nvPr/>
        </p:nvSpPr>
        <p:spPr>
          <a:xfrm>
            <a:off x="3931920" y="148132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Rectangle 2063"/>
          <p:cNvSpPr/>
          <p:nvPr/>
        </p:nvSpPr>
        <p:spPr>
          <a:xfrm>
            <a:off x="3931920" y="1481328"/>
            <a:ext cx="73152" cy="1115568"/>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TextBox 2064"/>
          <p:cNvSpPr txBox="1"/>
          <p:nvPr/>
        </p:nvSpPr>
        <p:spPr>
          <a:xfrm>
            <a:off x="4096511" y="1572768"/>
            <a:ext cx="2788920" cy="320040"/>
          </a:xfrm>
          <a:prstGeom prst="rect">
            <a:avLst/>
          </a:prstGeom>
          <a:noFill/>
        </p:spPr>
        <p:txBody>
          <a:bodyPr wrap="none">
            <a:spAutoFit/>
          </a:bodyPr>
          <a:lstStyle/>
          <a:p>
            <a:pPr>
              <a:defRPr sz="1250" b="1">
                <a:solidFill>
                  <a:srgbClr val="1C2B3E"/>
                </a:solidFill>
                <a:latin typeface="Maiandra GD"/>
              </a:defRPr>
            </a:pPr>
            <a:r>
              <a:t>4. Transformation</a:t>
            </a:r>
          </a:p>
        </p:txBody>
      </p:sp>
      <p:sp>
        <p:nvSpPr>
          <p:cNvPr id="2066" name="TextBox 2065"/>
          <p:cNvSpPr txBox="1"/>
          <p:nvPr/>
        </p:nvSpPr>
        <p:spPr>
          <a:xfrm>
            <a:off x="4096511" y="1956816"/>
            <a:ext cx="2456689" cy="406009"/>
          </a:xfrm>
          <a:prstGeom prst="rect">
            <a:avLst/>
          </a:prstGeom>
          <a:noFill/>
        </p:spPr>
        <p:txBody>
          <a:bodyPr wrap="square">
            <a:spAutoFit/>
          </a:bodyPr>
          <a:lstStyle/>
          <a:p>
            <a:pPr>
              <a:defRPr sz="1019">
                <a:solidFill>
                  <a:srgbClr val="646E78"/>
                </a:solidFill>
                <a:latin typeface="Maiandra GD"/>
              </a:defRPr>
            </a:pPr>
            <a:r>
              <a:rPr dirty="0"/>
              <a:t>Parse timestamps, derive hour/day and sort chronologically.</a:t>
            </a:r>
          </a:p>
        </p:txBody>
      </p:sp>
      <p:sp>
        <p:nvSpPr>
          <p:cNvPr id="2067" name="Rounded Rectangle 2066"/>
          <p:cNvSpPr/>
          <p:nvPr/>
        </p:nvSpPr>
        <p:spPr>
          <a:xfrm>
            <a:off x="3931920" y="276148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Rectangle 2067"/>
          <p:cNvSpPr/>
          <p:nvPr/>
        </p:nvSpPr>
        <p:spPr>
          <a:xfrm>
            <a:off x="3931920" y="2761488"/>
            <a:ext cx="73152" cy="111556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9" name="TextBox 2068"/>
          <p:cNvSpPr txBox="1"/>
          <p:nvPr/>
        </p:nvSpPr>
        <p:spPr>
          <a:xfrm>
            <a:off x="4096511" y="2852928"/>
            <a:ext cx="2788920" cy="320040"/>
          </a:xfrm>
          <a:prstGeom prst="rect">
            <a:avLst/>
          </a:prstGeom>
          <a:noFill/>
        </p:spPr>
        <p:txBody>
          <a:bodyPr wrap="none">
            <a:spAutoFit/>
          </a:bodyPr>
          <a:lstStyle/>
          <a:p>
            <a:pPr>
              <a:defRPr sz="1250" b="1">
                <a:solidFill>
                  <a:srgbClr val="1C2B3E"/>
                </a:solidFill>
                <a:latin typeface="Maiandra GD"/>
              </a:defRPr>
            </a:pPr>
            <a:r>
              <a:t>5. Validation</a:t>
            </a:r>
          </a:p>
        </p:txBody>
      </p:sp>
      <p:sp>
        <p:nvSpPr>
          <p:cNvPr id="2070" name="TextBox 2069"/>
          <p:cNvSpPr txBox="1"/>
          <p:nvPr/>
        </p:nvSpPr>
        <p:spPr>
          <a:xfrm>
            <a:off x="4096511" y="3236976"/>
            <a:ext cx="2496312" cy="406009"/>
          </a:xfrm>
          <a:prstGeom prst="rect">
            <a:avLst/>
          </a:prstGeom>
          <a:noFill/>
        </p:spPr>
        <p:txBody>
          <a:bodyPr wrap="square">
            <a:spAutoFit/>
          </a:bodyPr>
          <a:lstStyle/>
          <a:p>
            <a:pPr>
              <a:defRPr sz="1019">
                <a:solidFill>
                  <a:srgbClr val="646E78"/>
                </a:solidFill>
                <a:latin typeface="Maiandra GD"/>
              </a:defRPr>
            </a:pPr>
            <a:r>
              <a:t>Check data types and plausible ranges before analysis.</a:t>
            </a:r>
          </a:p>
        </p:txBody>
      </p:sp>
      <p:sp>
        <p:nvSpPr>
          <p:cNvPr id="2071" name="Rounded Rectangle 2070"/>
          <p:cNvSpPr/>
          <p:nvPr/>
        </p:nvSpPr>
        <p:spPr>
          <a:xfrm>
            <a:off x="3931920" y="4041648"/>
            <a:ext cx="3063240" cy="1115568"/>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2" name="Rectangle 2071"/>
          <p:cNvSpPr/>
          <p:nvPr/>
        </p:nvSpPr>
        <p:spPr>
          <a:xfrm>
            <a:off x="3931920" y="4041648"/>
            <a:ext cx="73152" cy="1115568"/>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3" name="TextBox 2072"/>
          <p:cNvSpPr txBox="1"/>
          <p:nvPr/>
        </p:nvSpPr>
        <p:spPr>
          <a:xfrm>
            <a:off x="4096511" y="4133087"/>
            <a:ext cx="2788920" cy="320040"/>
          </a:xfrm>
          <a:prstGeom prst="rect">
            <a:avLst/>
          </a:prstGeom>
          <a:noFill/>
        </p:spPr>
        <p:txBody>
          <a:bodyPr wrap="none">
            <a:spAutoFit/>
          </a:bodyPr>
          <a:lstStyle/>
          <a:p>
            <a:pPr>
              <a:defRPr sz="1250" b="1">
                <a:solidFill>
                  <a:srgbClr val="1C2B3E"/>
                </a:solidFill>
                <a:latin typeface="Maiandra GD"/>
              </a:defRPr>
            </a:pPr>
            <a:r>
              <a:t>6. Clean Dataset</a:t>
            </a:r>
          </a:p>
        </p:txBody>
      </p:sp>
      <p:sp>
        <p:nvSpPr>
          <p:cNvPr id="2074" name="TextBox 2073"/>
          <p:cNvSpPr txBox="1"/>
          <p:nvPr/>
        </p:nvSpPr>
        <p:spPr>
          <a:xfrm>
            <a:off x="4096511" y="4517136"/>
            <a:ext cx="2456689" cy="406009"/>
          </a:xfrm>
          <a:prstGeom prst="rect">
            <a:avLst/>
          </a:prstGeom>
          <a:noFill/>
        </p:spPr>
        <p:txBody>
          <a:bodyPr wrap="square">
            <a:spAutoFit/>
          </a:bodyPr>
          <a:lstStyle/>
          <a:p>
            <a:pPr>
              <a:defRPr sz="1019">
                <a:solidFill>
                  <a:srgbClr val="646E78"/>
                </a:solidFill>
                <a:latin typeface="Maiandra GD"/>
              </a:defRPr>
            </a:pPr>
            <a:r>
              <a:t>Create the analysis-ready stream used by charts and KPIs.</a:t>
            </a:r>
          </a:p>
        </p:txBody>
      </p:sp>
      <p:sp>
        <p:nvSpPr>
          <p:cNvPr id="2075" name="Rounded Rectangle 2074"/>
          <p:cNvSpPr/>
          <p:nvPr/>
        </p:nvSpPr>
        <p:spPr>
          <a:xfrm>
            <a:off x="7406640" y="1609344"/>
            <a:ext cx="3886200" cy="3154680"/>
          </a:xfrm>
          <a:prstGeom prst="round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6" name="Rounded Rectangle 2075"/>
          <p:cNvSpPr/>
          <p:nvPr/>
        </p:nvSpPr>
        <p:spPr>
          <a:xfrm>
            <a:off x="7360920" y="1554480"/>
            <a:ext cx="3886200" cy="31546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77" name="Picture 2076" descr="preprocessing.png"/>
          <p:cNvPicPr>
            <a:picLocks noChangeAspect="1"/>
          </p:cNvPicPr>
          <p:nvPr/>
        </p:nvPicPr>
        <p:blipFill>
          <a:blip r:embed="rId4"/>
          <a:stretch>
            <a:fillRect/>
          </a:stretch>
        </p:blipFill>
        <p:spPr>
          <a:xfrm>
            <a:off x="7415784" y="1609344"/>
            <a:ext cx="3776472" cy="3044952"/>
          </a:xfrm>
          <a:prstGeom prst="rect">
            <a:avLst/>
          </a:prstGeom>
        </p:spPr>
      </p:pic>
      <p:sp>
        <p:nvSpPr>
          <p:cNvPr id="2078" name="TextBox 2077"/>
          <p:cNvSpPr txBox="1"/>
          <p:nvPr/>
        </p:nvSpPr>
        <p:spPr>
          <a:xfrm>
            <a:off x="7360920" y="4736592"/>
            <a:ext cx="3886200" cy="274320"/>
          </a:xfrm>
          <a:prstGeom prst="rect">
            <a:avLst/>
          </a:prstGeom>
          <a:noFill/>
        </p:spPr>
        <p:txBody>
          <a:bodyPr wrap="none">
            <a:spAutoFit/>
          </a:bodyPr>
          <a:lstStyle/>
          <a:p>
            <a:pPr>
              <a:defRPr sz="800" i="1">
                <a:solidFill>
                  <a:srgbClr val="646E78"/>
                </a:solidFill>
                <a:latin typeface="Maiandra GD"/>
              </a:defRPr>
            </a:pPr>
            <a:r>
              <a:t>Data cleaning &amp; preprocessing workflow</a:t>
            </a:r>
          </a:p>
        </p:txBody>
      </p:sp>
      <p:sp>
        <p:nvSpPr>
          <p:cNvPr id="3" name="TextBox 2">
            <a:extLst>
              <a:ext uri="{FF2B5EF4-FFF2-40B4-BE49-F238E27FC236}">
                <a16:creationId xmlns:a16="http://schemas.microsoft.com/office/drawing/2014/main" id="{22067A97-4625-0346-C094-A831357DC0A7}"/>
              </a:ext>
            </a:extLst>
          </p:cNvPr>
          <p:cNvSpPr txBox="1"/>
          <p:nvPr/>
        </p:nvSpPr>
        <p:spPr>
          <a:xfrm>
            <a:off x="4853435" y="449885"/>
            <a:ext cx="6099462" cy="369332"/>
          </a:xfrm>
          <a:prstGeom prst="rect">
            <a:avLst/>
          </a:prstGeom>
          <a:noFill/>
        </p:spPr>
        <p:txBody>
          <a:bodyPr wrap="square">
            <a:spAutoFit/>
          </a:bodyPr>
          <a:lstStyle/>
          <a:p>
            <a:r>
              <a:rPr lang="en-IN" b="1" dirty="0">
                <a:latin typeface="Maiandra GD"/>
              </a:rPr>
              <a:t>DATA PREPROCESSING</a:t>
            </a:r>
          </a:p>
        </p:txBody>
      </p:sp>
    </p:spTree>
    <p:extLst>
      <p:ext uri="{BB962C8B-B14F-4D97-AF65-F5344CB8AC3E}">
        <p14:creationId xmlns:p14="http://schemas.microsoft.com/office/powerpoint/2010/main" val="357435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5C1FE-2826-3CDE-BE1D-AEC8B6892A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0F0046-A420-A9FB-7C82-844EB735CEB2}"/>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7" name="Group 6">
            <a:extLst>
              <a:ext uri="{FF2B5EF4-FFF2-40B4-BE49-F238E27FC236}">
                <a16:creationId xmlns:a16="http://schemas.microsoft.com/office/drawing/2014/main" id="{3C48EC44-1FD5-7379-1D79-128C7053EDFC}"/>
              </a:ext>
            </a:extLst>
          </p:cNvPr>
          <p:cNvGrpSpPr/>
          <p:nvPr/>
        </p:nvGrpSpPr>
        <p:grpSpPr>
          <a:xfrm>
            <a:off x="3010109" y="150869"/>
            <a:ext cx="6278461" cy="1273409"/>
            <a:chOff x="13004829" y="1407596"/>
            <a:chExt cx="6367635" cy="1909355"/>
          </a:xfrm>
        </p:grpSpPr>
        <p:grpSp>
          <p:nvGrpSpPr>
            <p:cNvPr id="8" name="Group 7">
              <a:extLst>
                <a:ext uri="{FF2B5EF4-FFF2-40B4-BE49-F238E27FC236}">
                  <a16:creationId xmlns:a16="http://schemas.microsoft.com/office/drawing/2014/main" id="{B6B7D8A8-D994-7548-46DB-CEBDB9170242}"/>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0AB47108-9E9F-3BF4-33F9-08B314807090}"/>
                  </a:ext>
                </a:extLst>
              </p:cNvPr>
              <p:cNvPicPr/>
              <p:nvPr/>
            </p:nvPicPr>
            <p:blipFill>
              <a:blip r:embed="rId2"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B7813BC7-A0C8-06CD-1AEC-41924D8F4953}"/>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04B0A185-6DCE-3134-18A5-CD2E2C7BA320}"/>
                </a:ext>
              </a:extLst>
            </p:cNvPr>
            <p:cNvSpPr/>
            <p:nvPr/>
          </p:nvSpPr>
          <p:spPr>
            <a:xfrm>
              <a:off x="13737133" y="1546183"/>
              <a:ext cx="5635331" cy="553778"/>
            </a:xfrm>
            <a:prstGeom prst="rect">
              <a:avLst/>
            </a:prstGeom>
          </p:spPr>
          <p:txBody>
            <a:bodyPr wrap="square">
              <a:spAutoFit/>
            </a:bodyPr>
            <a:lstStyle/>
            <a:p>
              <a:endParaRPr b="1" dirty="0">
                <a:latin typeface="Maiandra GD"/>
              </a:endParaRPr>
            </a:p>
          </p:txBody>
        </p:sp>
      </p:grpSp>
      <p:sp>
        <p:nvSpPr>
          <p:cNvPr id="2051" name="Rounded Rectangle 2050"/>
          <p:cNvSpPr/>
          <p:nvPr/>
        </p:nvSpPr>
        <p:spPr>
          <a:xfrm>
            <a:off x="685800" y="15544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Rectangle 2051"/>
          <p:cNvSpPr/>
          <p:nvPr/>
        </p:nvSpPr>
        <p:spPr>
          <a:xfrm>
            <a:off x="685800" y="1554480"/>
            <a:ext cx="73152" cy="1417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TextBox 2052"/>
          <p:cNvSpPr txBox="1"/>
          <p:nvPr/>
        </p:nvSpPr>
        <p:spPr>
          <a:xfrm>
            <a:off x="850392" y="1645920"/>
            <a:ext cx="3063240" cy="320040"/>
          </a:xfrm>
          <a:prstGeom prst="rect">
            <a:avLst/>
          </a:prstGeom>
          <a:noFill/>
        </p:spPr>
        <p:txBody>
          <a:bodyPr wrap="none">
            <a:spAutoFit/>
          </a:bodyPr>
          <a:lstStyle/>
          <a:p>
            <a:pPr>
              <a:defRPr sz="1250" b="1">
                <a:solidFill>
                  <a:srgbClr val="1C2B3E"/>
                </a:solidFill>
                <a:latin typeface="Maiandra GD"/>
              </a:defRPr>
            </a:pPr>
            <a:r>
              <a:t>1. Understand</a:t>
            </a:r>
          </a:p>
        </p:txBody>
      </p:sp>
      <p:sp>
        <p:nvSpPr>
          <p:cNvPr id="2054" name="TextBox 2053"/>
          <p:cNvSpPr txBox="1"/>
          <p:nvPr/>
        </p:nvSpPr>
        <p:spPr>
          <a:xfrm>
            <a:off x="850392" y="2029967"/>
            <a:ext cx="3063240" cy="868680"/>
          </a:xfrm>
          <a:prstGeom prst="rect">
            <a:avLst/>
          </a:prstGeom>
          <a:noFill/>
        </p:spPr>
        <p:txBody>
          <a:bodyPr wrap="none">
            <a:spAutoFit/>
          </a:bodyPr>
          <a:lstStyle/>
          <a:p>
            <a:pPr>
              <a:defRPr sz="1019">
                <a:solidFill>
                  <a:srgbClr val="646E78"/>
                </a:solidFill>
                <a:latin typeface="Maiandra GD"/>
              </a:defRPr>
            </a:pPr>
            <a:r>
              <a:t>Problem + objectives</a:t>
            </a:r>
          </a:p>
        </p:txBody>
      </p:sp>
      <p:sp>
        <p:nvSpPr>
          <p:cNvPr id="2055" name="Rounded Rectangle 2054"/>
          <p:cNvSpPr/>
          <p:nvPr/>
        </p:nvSpPr>
        <p:spPr>
          <a:xfrm>
            <a:off x="4480560" y="15544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Rectangle 2055"/>
          <p:cNvSpPr/>
          <p:nvPr/>
        </p:nvSpPr>
        <p:spPr>
          <a:xfrm>
            <a:off x="4480560" y="1554480"/>
            <a:ext cx="73152" cy="1417320"/>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TextBox 2056"/>
          <p:cNvSpPr txBox="1"/>
          <p:nvPr/>
        </p:nvSpPr>
        <p:spPr>
          <a:xfrm>
            <a:off x="4645152" y="1645920"/>
            <a:ext cx="3063240" cy="320040"/>
          </a:xfrm>
          <a:prstGeom prst="rect">
            <a:avLst/>
          </a:prstGeom>
          <a:noFill/>
        </p:spPr>
        <p:txBody>
          <a:bodyPr wrap="none">
            <a:spAutoFit/>
          </a:bodyPr>
          <a:lstStyle/>
          <a:p>
            <a:pPr>
              <a:defRPr sz="1250" b="1">
                <a:solidFill>
                  <a:srgbClr val="1C2B3E"/>
                </a:solidFill>
                <a:latin typeface="Maiandra GD"/>
              </a:defRPr>
            </a:pPr>
            <a:r>
              <a:t>2. Select</a:t>
            </a:r>
          </a:p>
        </p:txBody>
      </p:sp>
      <p:sp>
        <p:nvSpPr>
          <p:cNvPr id="2058" name="TextBox 2057"/>
          <p:cNvSpPr txBox="1"/>
          <p:nvPr/>
        </p:nvSpPr>
        <p:spPr>
          <a:xfrm>
            <a:off x="4645152" y="2029967"/>
            <a:ext cx="3063240" cy="868680"/>
          </a:xfrm>
          <a:prstGeom prst="rect">
            <a:avLst/>
          </a:prstGeom>
          <a:noFill/>
        </p:spPr>
        <p:txBody>
          <a:bodyPr wrap="none">
            <a:spAutoFit/>
          </a:bodyPr>
          <a:lstStyle/>
          <a:p>
            <a:pPr>
              <a:defRPr sz="1019">
                <a:solidFill>
                  <a:srgbClr val="646E78"/>
                </a:solidFill>
                <a:latin typeface="Maiandra GD"/>
              </a:defRPr>
            </a:pPr>
            <a:r>
              <a:t>Dataset + features</a:t>
            </a:r>
          </a:p>
        </p:txBody>
      </p:sp>
      <p:sp>
        <p:nvSpPr>
          <p:cNvPr id="2059" name="Rounded Rectangle 2058"/>
          <p:cNvSpPr/>
          <p:nvPr/>
        </p:nvSpPr>
        <p:spPr>
          <a:xfrm>
            <a:off x="8275320" y="15544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Rectangle 2059"/>
          <p:cNvSpPr/>
          <p:nvPr/>
        </p:nvSpPr>
        <p:spPr>
          <a:xfrm>
            <a:off x="8275320" y="1554480"/>
            <a:ext cx="73152" cy="1417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TextBox 2060"/>
          <p:cNvSpPr txBox="1"/>
          <p:nvPr/>
        </p:nvSpPr>
        <p:spPr>
          <a:xfrm>
            <a:off x="8439912" y="1645920"/>
            <a:ext cx="3063240" cy="320040"/>
          </a:xfrm>
          <a:prstGeom prst="rect">
            <a:avLst/>
          </a:prstGeom>
          <a:noFill/>
        </p:spPr>
        <p:txBody>
          <a:bodyPr wrap="none">
            <a:spAutoFit/>
          </a:bodyPr>
          <a:lstStyle/>
          <a:p>
            <a:pPr>
              <a:defRPr sz="1250" b="1">
                <a:solidFill>
                  <a:srgbClr val="1C2B3E"/>
                </a:solidFill>
                <a:latin typeface="Maiandra GD"/>
              </a:defRPr>
            </a:pPr>
            <a:r>
              <a:t>3. Clean</a:t>
            </a:r>
          </a:p>
        </p:txBody>
      </p:sp>
      <p:sp>
        <p:nvSpPr>
          <p:cNvPr id="2062" name="TextBox 2061"/>
          <p:cNvSpPr txBox="1"/>
          <p:nvPr/>
        </p:nvSpPr>
        <p:spPr>
          <a:xfrm>
            <a:off x="8439912" y="2029967"/>
            <a:ext cx="3063240" cy="868680"/>
          </a:xfrm>
          <a:prstGeom prst="rect">
            <a:avLst/>
          </a:prstGeom>
          <a:noFill/>
        </p:spPr>
        <p:txBody>
          <a:bodyPr wrap="none">
            <a:spAutoFit/>
          </a:bodyPr>
          <a:lstStyle/>
          <a:p>
            <a:pPr>
              <a:defRPr sz="1019">
                <a:solidFill>
                  <a:srgbClr val="646E78"/>
                </a:solidFill>
                <a:latin typeface="Maiandra GD"/>
              </a:defRPr>
            </a:pPr>
            <a:r>
              <a:t>Missing + duplicates</a:t>
            </a:r>
          </a:p>
        </p:txBody>
      </p:sp>
      <p:sp>
        <p:nvSpPr>
          <p:cNvPr id="2063" name="Rounded Rectangle 2062"/>
          <p:cNvSpPr/>
          <p:nvPr/>
        </p:nvSpPr>
        <p:spPr>
          <a:xfrm>
            <a:off x="685800" y="36118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Rectangle 2063"/>
          <p:cNvSpPr/>
          <p:nvPr/>
        </p:nvSpPr>
        <p:spPr>
          <a:xfrm>
            <a:off x="685800" y="3611880"/>
            <a:ext cx="73152" cy="1417320"/>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TextBox 2064"/>
          <p:cNvSpPr txBox="1"/>
          <p:nvPr/>
        </p:nvSpPr>
        <p:spPr>
          <a:xfrm>
            <a:off x="850392" y="3703320"/>
            <a:ext cx="3063240" cy="320040"/>
          </a:xfrm>
          <a:prstGeom prst="rect">
            <a:avLst/>
          </a:prstGeom>
          <a:noFill/>
        </p:spPr>
        <p:txBody>
          <a:bodyPr wrap="none">
            <a:spAutoFit/>
          </a:bodyPr>
          <a:lstStyle/>
          <a:p>
            <a:pPr>
              <a:defRPr sz="1250" b="1">
                <a:solidFill>
                  <a:srgbClr val="1C2B3E"/>
                </a:solidFill>
                <a:latin typeface="Maiandra GD"/>
              </a:defRPr>
            </a:pPr>
            <a:r>
              <a:t>4. Transform</a:t>
            </a:r>
          </a:p>
        </p:txBody>
      </p:sp>
      <p:sp>
        <p:nvSpPr>
          <p:cNvPr id="2066" name="TextBox 2065"/>
          <p:cNvSpPr txBox="1"/>
          <p:nvPr/>
        </p:nvSpPr>
        <p:spPr>
          <a:xfrm>
            <a:off x="850392" y="4087368"/>
            <a:ext cx="3063240" cy="868680"/>
          </a:xfrm>
          <a:prstGeom prst="rect">
            <a:avLst/>
          </a:prstGeom>
          <a:noFill/>
        </p:spPr>
        <p:txBody>
          <a:bodyPr wrap="none">
            <a:spAutoFit/>
          </a:bodyPr>
          <a:lstStyle/>
          <a:p>
            <a:pPr>
              <a:defRPr sz="1019">
                <a:solidFill>
                  <a:srgbClr val="646E78"/>
                </a:solidFill>
                <a:latin typeface="Maiandra GD"/>
              </a:defRPr>
            </a:pPr>
            <a:r>
              <a:t>Time + categories</a:t>
            </a:r>
          </a:p>
        </p:txBody>
      </p:sp>
      <p:sp>
        <p:nvSpPr>
          <p:cNvPr id="2067" name="Rounded Rectangle 2066"/>
          <p:cNvSpPr/>
          <p:nvPr/>
        </p:nvSpPr>
        <p:spPr>
          <a:xfrm>
            <a:off x="4480560" y="36118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Rectangle 2067"/>
          <p:cNvSpPr/>
          <p:nvPr/>
        </p:nvSpPr>
        <p:spPr>
          <a:xfrm>
            <a:off x="4480560" y="3611880"/>
            <a:ext cx="73152" cy="1417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9" name="TextBox 2068"/>
          <p:cNvSpPr txBox="1"/>
          <p:nvPr/>
        </p:nvSpPr>
        <p:spPr>
          <a:xfrm>
            <a:off x="4645152" y="3703320"/>
            <a:ext cx="3063240" cy="320040"/>
          </a:xfrm>
          <a:prstGeom prst="rect">
            <a:avLst/>
          </a:prstGeom>
          <a:noFill/>
        </p:spPr>
        <p:txBody>
          <a:bodyPr wrap="none">
            <a:spAutoFit/>
          </a:bodyPr>
          <a:lstStyle/>
          <a:p>
            <a:pPr>
              <a:defRPr sz="1250" b="1">
                <a:solidFill>
                  <a:srgbClr val="1C2B3E"/>
                </a:solidFill>
                <a:latin typeface="Maiandra GD"/>
              </a:defRPr>
            </a:pPr>
            <a:r>
              <a:t>5. Analyze</a:t>
            </a:r>
          </a:p>
        </p:txBody>
      </p:sp>
      <p:sp>
        <p:nvSpPr>
          <p:cNvPr id="2070" name="TextBox 2069"/>
          <p:cNvSpPr txBox="1"/>
          <p:nvPr/>
        </p:nvSpPr>
        <p:spPr>
          <a:xfrm>
            <a:off x="4645152" y="4087368"/>
            <a:ext cx="3063240" cy="868680"/>
          </a:xfrm>
          <a:prstGeom prst="rect">
            <a:avLst/>
          </a:prstGeom>
          <a:noFill/>
        </p:spPr>
        <p:txBody>
          <a:bodyPr wrap="none">
            <a:spAutoFit/>
          </a:bodyPr>
          <a:lstStyle/>
          <a:p>
            <a:pPr>
              <a:defRPr sz="1019">
                <a:solidFill>
                  <a:srgbClr val="646E78"/>
                </a:solidFill>
                <a:latin typeface="Maiandra GD"/>
              </a:defRPr>
            </a:pPr>
            <a:r>
              <a:t>KPIs + trends</a:t>
            </a:r>
          </a:p>
        </p:txBody>
      </p:sp>
      <p:sp>
        <p:nvSpPr>
          <p:cNvPr id="2071" name="Rounded Rectangle 2070"/>
          <p:cNvSpPr/>
          <p:nvPr/>
        </p:nvSpPr>
        <p:spPr>
          <a:xfrm>
            <a:off x="8275320" y="3611880"/>
            <a:ext cx="3337560" cy="1417320"/>
          </a:xfrm>
          <a:prstGeom prst="roundRect">
            <a:avLst/>
          </a:prstGeom>
          <a:solidFill>
            <a:srgbClr val="F5F7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2" name="Rectangle 2071"/>
          <p:cNvSpPr/>
          <p:nvPr/>
        </p:nvSpPr>
        <p:spPr>
          <a:xfrm>
            <a:off x="8275320" y="3611880"/>
            <a:ext cx="73152" cy="1417320"/>
          </a:xfrm>
          <a:prstGeom prst="rect">
            <a:avLst/>
          </a:prstGeom>
          <a:solidFill>
            <a:srgbClr val="2C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3" name="TextBox 2072"/>
          <p:cNvSpPr txBox="1"/>
          <p:nvPr/>
        </p:nvSpPr>
        <p:spPr>
          <a:xfrm>
            <a:off x="8439912" y="3703320"/>
            <a:ext cx="3063240" cy="320040"/>
          </a:xfrm>
          <a:prstGeom prst="rect">
            <a:avLst/>
          </a:prstGeom>
          <a:noFill/>
        </p:spPr>
        <p:txBody>
          <a:bodyPr wrap="none">
            <a:spAutoFit/>
          </a:bodyPr>
          <a:lstStyle/>
          <a:p>
            <a:pPr>
              <a:defRPr sz="1250" b="1">
                <a:solidFill>
                  <a:srgbClr val="1C2B3E"/>
                </a:solidFill>
                <a:latin typeface="Maiandra GD"/>
              </a:defRPr>
            </a:pPr>
            <a:r>
              <a:t>6. Visualize</a:t>
            </a:r>
          </a:p>
        </p:txBody>
      </p:sp>
      <p:sp>
        <p:nvSpPr>
          <p:cNvPr id="2074" name="TextBox 2073"/>
          <p:cNvSpPr txBox="1"/>
          <p:nvPr/>
        </p:nvSpPr>
        <p:spPr>
          <a:xfrm>
            <a:off x="8439912" y="4087368"/>
            <a:ext cx="3063240" cy="868680"/>
          </a:xfrm>
          <a:prstGeom prst="rect">
            <a:avLst/>
          </a:prstGeom>
          <a:noFill/>
        </p:spPr>
        <p:txBody>
          <a:bodyPr wrap="none">
            <a:spAutoFit/>
          </a:bodyPr>
          <a:lstStyle/>
          <a:p>
            <a:pPr>
              <a:defRPr sz="1019">
                <a:solidFill>
                  <a:srgbClr val="646E78"/>
                </a:solidFill>
                <a:latin typeface="Maiandra GD"/>
              </a:defRPr>
            </a:pPr>
            <a:r>
              <a:t>Charts + insights</a:t>
            </a:r>
          </a:p>
        </p:txBody>
      </p:sp>
      <p:sp>
        <p:nvSpPr>
          <p:cNvPr id="3" name="TextBox 2">
            <a:extLst>
              <a:ext uri="{FF2B5EF4-FFF2-40B4-BE49-F238E27FC236}">
                <a16:creationId xmlns:a16="http://schemas.microsoft.com/office/drawing/2014/main" id="{AC45A581-E4DA-A3CF-7E9F-AA30802CAE3B}"/>
              </a:ext>
            </a:extLst>
          </p:cNvPr>
          <p:cNvSpPr txBox="1"/>
          <p:nvPr/>
        </p:nvSpPr>
        <p:spPr>
          <a:xfrm>
            <a:off x="4267200" y="404672"/>
            <a:ext cx="6099462" cy="369332"/>
          </a:xfrm>
          <a:prstGeom prst="rect">
            <a:avLst/>
          </a:prstGeom>
          <a:noFill/>
        </p:spPr>
        <p:txBody>
          <a:bodyPr wrap="square">
            <a:spAutoFit/>
          </a:bodyPr>
          <a:lstStyle/>
          <a:p>
            <a:r>
              <a:rPr lang="en-IN" b="1" dirty="0">
                <a:latin typeface="Maiandra GD"/>
              </a:rPr>
              <a:t>DATA ANALYSIS METHOD</a:t>
            </a:r>
          </a:p>
        </p:txBody>
      </p:sp>
      <p:pic>
        <p:nvPicPr>
          <p:cNvPr id="2" name="Picture 2" descr="C:\Users\My\Desktop\Capture 1.PNG">
            <a:extLst>
              <a:ext uri="{FF2B5EF4-FFF2-40B4-BE49-F238E27FC236}">
                <a16:creationId xmlns:a16="http://schemas.microsoft.com/office/drawing/2014/main" id="{452D9D4F-B5CC-9907-D390-5E74799AB05C}"/>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Tree>
    <p:extLst>
      <p:ext uri="{BB962C8B-B14F-4D97-AF65-F5344CB8AC3E}">
        <p14:creationId xmlns:p14="http://schemas.microsoft.com/office/powerpoint/2010/main" val="3684620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3227-4E73-EF44-51BC-675F7B7C30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6CDCF-5766-5C08-2C17-ACA1047C3B24}"/>
              </a:ext>
            </a:extLst>
          </p:cNvPr>
          <p:cNvSpPr>
            <a:spLocks noGrp="1"/>
          </p:cNvSpPr>
          <p:nvPr>
            <p:ph type="sldNum" sz="quarter" idx="12"/>
          </p:nvPr>
        </p:nvSpPr>
        <p:spPr/>
        <p:txBody>
          <a:bodyPr/>
          <a:lstStyle/>
          <a:p>
            <a:fld id="{B6F15528-21DE-4FAA-801E-634DDDAF4B2B}" type="slidenum">
              <a:rPr lang="en-US" smtClean="0"/>
              <a:pPr/>
              <a:t>9</a:t>
            </a:fld>
            <a:endParaRPr lang="en-US"/>
          </a:p>
        </p:txBody>
      </p:sp>
      <p:grpSp>
        <p:nvGrpSpPr>
          <p:cNvPr id="7" name="Group 6">
            <a:extLst>
              <a:ext uri="{FF2B5EF4-FFF2-40B4-BE49-F238E27FC236}">
                <a16:creationId xmlns:a16="http://schemas.microsoft.com/office/drawing/2014/main" id="{DBFBB3C0-5F37-D400-9F30-2E5B88A6FCC4}"/>
              </a:ext>
            </a:extLst>
          </p:cNvPr>
          <p:cNvGrpSpPr/>
          <p:nvPr/>
        </p:nvGrpSpPr>
        <p:grpSpPr>
          <a:xfrm>
            <a:off x="3200400" y="136524"/>
            <a:ext cx="6867236" cy="1273409"/>
            <a:chOff x="13004829" y="1407596"/>
            <a:chExt cx="6964772" cy="1909355"/>
          </a:xfrm>
        </p:grpSpPr>
        <p:grpSp>
          <p:nvGrpSpPr>
            <p:cNvPr id="8" name="Group 7">
              <a:extLst>
                <a:ext uri="{FF2B5EF4-FFF2-40B4-BE49-F238E27FC236}">
                  <a16:creationId xmlns:a16="http://schemas.microsoft.com/office/drawing/2014/main" id="{9E91BEC7-4848-D24D-A9DE-87A8C58A0316}"/>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A720AD52-A419-A6E7-3535-5D773E71EF02}"/>
                  </a:ext>
                </a:extLst>
              </p:cNvPr>
              <p:cNvPicPr/>
              <p:nvPr/>
            </p:nvPicPr>
            <p:blipFill>
              <a:blip r:embed="rId2"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B27C91E0-A10C-2D33-099C-C3BDE33766D8}"/>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EA5C15A1-7A66-59A4-65A8-9582F4D03160}"/>
                </a:ext>
              </a:extLst>
            </p:cNvPr>
            <p:cNvSpPr/>
            <p:nvPr/>
          </p:nvSpPr>
          <p:spPr>
            <a:xfrm>
              <a:off x="14334270" y="1518832"/>
              <a:ext cx="5635331" cy="553778"/>
            </a:xfrm>
            <a:prstGeom prst="rect">
              <a:avLst/>
            </a:prstGeom>
          </p:spPr>
          <p:txBody>
            <a:bodyPr wrap="square">
              <a:spAutoFit/>
            </a:bodyPr>
            <a:lstStyle/>
            <a:p>
              <a:endParaRPr b="1" dirty="0">
                <a:latin typeface="Maiandra GD"/>
              </a:endParaRPr>
            </a:p>
          </p:txBody>
        </p:sp>
      </p:grpSp>
      <p:sp>
        <p:nvSpPr>
          <p:cNvPr id="3" name="TextBox 2">
            <a:extLst>
              <a:ext uri="{FF2B5EF4-FFF2-40B4-BE49-F238E27FC236}">
                <a16:creationId xmlns:a16="http://schemas.microsoft.com/office/drawing/2014/main" id="{D6742097-A4EC-1CA6-8054-6970DA281C34}"/>
              </a:ext>
            </a:extLst>
          </p:cNvPr>
          <p:cNvSpPr txBox="1"/>
          <p:nvPr/>
        </p:nvSpPr>
        <p:spPr>
          <a:xfrm>
            <a:off x="4477695" y="331231"/>
            <a:ext cx="3218241" cy="461665"/>
          </a:xfrm>
          <a:prstGeom prst="rect">
            <a:avLst/>
          </a:prstGeom>
          <a:noFill/>
        </p:spPr>
        <p:txBody>
          <a:bodyPr wrap="square">
            <a:spAutoFit/>
          </a:bodyPr>
          <a:lstStyle/>
          <a:p>
            <a:r>
              <a:rPr lang="en-IN" sz="2400" b="1" dirty="0">
                <a:latin typeface="Maiandra GD"/>
              </a:rPr>
              <a:t>PROJECT PROGRESS </a:t>
            </a:r>
          </a:p>
        </p:txBody>
      </p:sp>
      <p:sp>
        <p:nvSpPr>
          <p:cNvPr id="2" name="TextBox 1">
            <a:extLst>
              <a:ext uri="{FF2B5EF4-FFF2-40B4-BE49-F238E27FC236}">
                <a16:creationId xmlns:a16="http://schemas.microsoft.com/office/drawing/2014/main" id="{0B7FEEAE-D73E-E4DA-2FA5-B9D6606040F7}"/>
              </a:ext>
            </a:extLst>
          </p:cNvPr>
          <p:cNvSpPr txBox="1"/>
          <p:nvPr/>
        </p:nvSpPr>
        <p:spPr>
          <a:xfrm>
            <a:off x="762001" y="1371600"/>
            <a:ext cx="10537134" cy="5081519"/>
          </a:xfrm>
          <a:prstGeom prst="rect">
            <a:avLst/>
          </a:prstGeom>
          <a:noFill/>
        </p:spPr>
        <p:txBody>
          <a:bodyPr wrap="square" rtlCol="0">
            <a:spAutoFit/>
          </a:bodyPr>
          <a:lstStyle/>
          <a:p>
            <a:pPr>
              <a:lnSpc>
                <a:spcPct val="150000"/>
              </a:lnSpc>
            </a:pPr>
            <a:r>
              <a:rPr lang="en-US" sz="2000" b="1" dirty="0"/>
              <a:t>1. Data Collection &amp; Preparation  </a:t>
            </a:r>
            <a:r>
              <a:rPr lang="en-US" sz="2000" dirty="0"/>
              <a:t>Collected the household energy dataset and prepared the date-time information for analysis.</a:t>
            </a:r>
          </a:p>
          <a:p>
            <a:pPr>
              <a:lnSpc>
                <a:spcPct val="150000"/>
              </a:lnSpc>
            </a:pPr>
            <a:r>
              <a:rPr lang="en-US" sz="2000" b="1" dirty="0"/>
              <a:t>2. Data Analysis	</a:t>
            </a:r>
            <a:r>
              <a:rPr lang="en-US" sz="2000" dirty="0"/>
              <a:t>Performed statistical analysis using </a:t>
            </a:r>
            <a:r>
              <a:rPr lang="en-US" sz="2000" b="1" dirty="0"/>
              <a:t>Pandas and NumPy</a:t>
            </a:r>
            <a:r>
              <a:rPr lang="en-US" sz="2000" dirty="0"/>
              <a:t> to understand energy consumption.</a:t>
            </a:r>
          </a:p>
          <a:p>
            <a:pPr>
              <a:lnSpc>
                <a:spcPct val="150000"/>
              </a:lnSpc>
            </a:pPr>
            <a:r>
              <a:rPr lang="en-US" sz="2000" b="1" dirty="0"/>
              <a:t>3. Streaming Simulation </a:t>
            </a:r>
            <a:r>
              <a:rPr lang="en-US" sz="2000" dirty="0"/>
              <a:t>Simulated continuous data arrival and calculated the </a:t>
            </a:r>
            <a:r>
              <a:rPr lang="en-US" sz="2000" b="1" dirty="0"/>
              <a:t>running average</a:t>
            </a:r>
            <a:r>
              <a:rPr lang="en-US" sz="2000" dirty="0"/>
              <a:t> of energy consumption.</a:t>
            </a:r>
          </a:p>
          <a:p>
            <a:pPr>
              <a:lnSpc>
                <a:spcPct val="150000"/>
              </a:lnSpc>
            </a:pPr>
            <a:r>
              <a:rPr lang="en-US" sz="2000" b="1" dirty="0"/>
              <a:t>4. Trend &amp; Anomaly Analysis </a:t>
            </a:r>
            <a:r>
              <a:rPr lang="en-US" sz="2000" dirty="0"/>
              <a:t>Used </a:t>
            </a:r>
            <a:r>
              <a:rPr lang="en-US" sz="2000" b="1" dirty="0"/>
              <a:t>moving averages</a:t>
            </a:r>
            <a:r>
              <a:rPr lang="en-US" sz="2000" dirty="0"/>
              <a:t> to identify trends and statistical methods to detect potential anomalies.</a:t>
            </a:r>
          </a:p>
          <a:p>
            <a:pPr>
              <a:lnSpc>
                <a:spcPct val="150000"/>
              </a:lnSpc>
            </a:pPr>
            <a:r>
              <a:rPr lang="en-US" sz="2000" b="1" dirty="0"/>
              <a:t>5. Data Visualization  </a:t>
            </a:r>
            <a:r>
              <a:rPr lang="en-US" sz="2000" dirty="0"/>
              <a:t>Created graphs using </a:t>
            </a:r>
            <a:r>
              <a:rPr lang="en-US" sz="2000" b="1" dirty="0"/>
              <a:t>Matplotlib</a:t>
            </a:r>
            <a:r>
              <a:rPr lang="en-US" sz="2000" dirty="0"/>
              <a:t> to visualize energy consumption over time and identify peak usage periods.</a:t>
            </a:r>
          </a:p>
          <a:p>
            <a:pPr>
              <a:lnSpc>
                <a:spcPct val="150000"/>
              </a:lnSpc>
            </a:pPr>
            <a:endParaRPr lang="en-US" dirty="0"/>
          </a:p>
        </p:txBody>
      </p:sp>
      <p:pic>
        <p:nvPicPr>
          <p:cNvPr id="5" name="Picture 2" descr="C:\Users\My\Desktop\Capture 1.PNG">
            <a:extLst>
              <a:ext uri="{FF2B5EF4-FFF2-40B4-BE49-F238E27FC236}">
                <a16:creationId xmlns:a16="http://schemas.microsoft.com/office/drawing/2014/main" id="{8E3557C7-0F07-EB0D-1D15-5335BCB8A5F9}"/>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Tree>
    <p:extLst>
      <p:ext uri="{BB962C8B-B14F-4D97-AF65-F5344CB8AC3E}">
        <p14:creationId xmlns:p14="http://schemas.microsoft.com/office/powerpoint/2010/main" val="1206077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535EE-7007-03C7-440C-FEB1228E9593}"/>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2CC1D03C-12DC-A183-73D8-DF8D578AEAD4}"/>
              </a:ext>
            </a:extLst>
          </p:cNvPr>
          <p:cNvSpPr>
            <a:spLocks noGrp="1"/>
          </p:cNvSpPr>
          <p:nvPr>
            <p:ph type="sldNum" sz="quarter" idx="12"/>
          </p:nvPr>
        </p:nvSpPr>
        <p:spPr/>
        <p:txBody>
          <a:bodyPr/>
          <a:lstStyle/>
          <a:p>
            <a:fld id="{B6F15528-21DE-4FAA-801E-634DDDAF4B2B}" type="slidenum">
              <a:rPr lang="en-US" smtClean="0"/>
              <a:pPr/>
              <a:t>10</a:t>
            </a:fld>
            <a:endParaRPr lang="en-US"/>
          </a:p>
        </p:txBody>
      </p:sp>
      <p:pic>
        <p:nvPicPr>
          <p:cNvPr id="6" name="Picture 2" descr="C:\Users\My\Desktop\Capture 1.PNG">
            <a:extLst>
              <a:ext uri="{FF2B5EF4-FFF2-40B4-BE49-F238E27FC236}">
                <a16:creationId xmlns:a16="http://schemas.microsoft.com/office/drawing/2014/main" id="{A3951B08-4827-39EB-6427-CC4D740EE247}"/>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12" name="TextBox 11">
            <a:extLst>
              <a:ext uri="{FF2B5EF4-FFF2-40B4-BE49-F238E27FC236}">
                <a16:creationId xmlns:a16="http://schemas.microsoft.com/office/drawing/2014/main" id="{EF1FCDA7-EC72-B483-93F3-55E91CBFC9DC}"/>
              </a:ext>
            </a:extLst>
          </p:cNvPr>
          <p:cNvSpPr txBox="1"/>
          <p:nvPr/>
        </p:nvSpPr>
        <p:spPr>
          <a:xfrm>
            <a:off x="621211" y="990600"/>
            <a:ext cx="6100354" cy="3970318"/>
          </a:xfrm>
          <a:prstGeom prst="rect">
            <a:avLst/>
          </a:prstGeom>
          <a:noFill/>
        </p:spPr>
        <p:txBody>
          <a:bodyPr wrap="square">
            <a:spAutoFit/>
          </a:bodyPr>
          <a:lstStyle/>
          <a:p>
            <a:r>
              <a:rPr lang="en-US" dirty="0"/>
              <a:t>import pandas as pd</a:t>
            </a:r>
          </a:p>
          <a:p>
            <a:r>
              <a:rPr lang="en-US" dirty="0"/>
              <a:t>import </a:t>
            </a:r>
            <a:r>
              <a:rPr lang="en-US" dirty="0" err="1"/>
              <a:t>numpy</a:t>
            </a:r>
            <a:r>
              <a:rPr lang="en-US" dirty="0"/>
              <a:t> as np</a:t>
            </a:r>
          </a:p>
          <a:p>
            <a:r>
              <a:rPr lang="en-US" dirty="0"/>
              <a:t>import </a:t>
            </a:r>
            <a:r>
              <a:rPr lang="en-US" dirty="0" err="1"/>
              <a:t>matplotlib.pyplot</a:t>
            </a:r>
            <a:r>
              <a:rPr lang="en-US" dirty="0"/>
              <a:t> as </a:t>
            </a:r>
            <a:r>
              <a:rPr lang="en-US" dirty="0" err="1"/>
              <a:t>plt</a:t>
            </a:r>
            <a:endParaRPr lang="en-US" dirty="0"/>
          </a:p>
          <a:p>
            <a:endParaRPr lang="en-US" dirty="0"/>
          </a:p>
          <a:p>
            <a:r>
              <a:rPr lang="en-US" dirty="0"/>
              <a:t># Load Data</a:t>
            </a:r>
          </a:p>
          <a:p>
            <a:r>
              <a:rPr lang="en-US" dirty="0" err="1"/>
              <a:t>df</a:t>
            </a:r>
            <a:r>
              <a:rPr lang="en-US" dirty="0"/>
              <a:t> = </a:t>
            </a:r>
            <a:r>
              <a:rPr lang="en-US" dirty="0" err="1"/>
              <a:t>pd.read_csv</a:t>
            </a:r>
            <a:r>
              <a:rPr lang="en-US" dirty="0"/>
              <a:t>(</a:t>
            </a:r>
          </a:p>
          <a:p>
            <a:r>
              <a:rPr lang="en-US" dirty="0"/>
              <a:t>    "/content/</a:t>
            </a:r>
            <a:r>
              <a:rPr lang="en-US" dirty="0" err="1"/>
              <a:t>household_energy_consumption.csv</a:t>
            </a:r>
            <a:r>
              <a:rPr lang="en-US" dirty="0"/>
              <a:t>"</a:t>
            </a:r>
          </a:p>
          <a:p>
            <a:r>
              <a:rPr lang="en-US" dirty="0"/>
              <a:t>)</a:t>
            </a:r>
          </a:p>
          <a:p>
            <a:endParaRPr lang="en-US" dirty="0"/>
          </a:p>
          <a:p>
            <a:r>
              <a:rPr lang="en-US" dirty="0"/>
              <a:t>print("First 5 records:")</a:t>
            </a:r>
          </a:p>
          <a:p>
            <a:r>
              <a:rPr lang="en-US" dirty="0"/>
              <a:t>print(</a:t>
            </a:r>
            <a:r>
              <a:rPr lang="en-US" dirty="0" err="1"/>
              <a:t>df.head</a:t>
            </a:r>
            <a:r>
              <a:rPr lang="en-US" dirty="0"/>
              <a:t>())</a:t>
            </a:r>
          </a:p>
          <a:p>
            <a:endParaRPr lang="en-US" dirty="0"/>
          </a:p>
          <a:p>
            <a:r>
              <a:rPr lang="en-US" dirty="0"/>
              <a:t>print("\</a:t>
            </a:r>
            <a:r>
              <a:rPr lang="en-US" dirty="0" err="1"/>
              <a:t>nDataset</a:t>
            </a:r>
            <a:r>
              <a:rPr lang="en-US" dirty="0"/>
              <a:t> Information:")</a:t>
            </a:r>
          </a:p>
          <a:p>
            <a:r>
              <a:rPr lang="en-US" dirty="0"/>
              <a:t>print(</a:t>
            </a:r>
            <a:r>
              <a:rPr lang="en-US" dirty="0" err="1"/>
              <a:t>df.info</a:t>
            </a:r>
            <a:r>
              <a:rPr lang="en-US" dirty="0"/>
              <a:t>())</a:t>
            </a:r>
          </a:p>
        </p:txBody>
      </p:sp>
      <p:sp>
        <p:nvSpPr>
          <p:cNvPr id="14" name="TextBox 13">
            <a:extLst>
              <a:ext uri="{FF2B5EF4-FFF2-40B4-BE49-F238E27FC236}">
                <a16:creationId xmlns:a16="http://schemas.microsoft.com/office/drawing/2014/main" id="{634B7148-792C-7419-E13F-381D08043C0D}"/>
              </a:ext>
            </a:extLst>
          </p:cNvPr>
          <p:cNvSpPr txBox="1"/>
          <p:nvPr/>
        </p:nvSpPr>
        <p:spPr>
          <a:xfrm>
            <a:off x="5765075" y="487536"/>
            <a:ext cx="6100354" cy="5909310"/>
          </a:xfrm>
          <a:prstGeom prst="rect">
            <a:avLst/>
          </a:prstGeom>
          <a:noFill/>
        </p:spPr>
        <p:txBody>
          <a:bodyPr wrap="square">
            <a:spAutoFit/>
          </a:bodyPr>
          <a:lstStyle/>
          <a:p>
            <a:r>
              <a:rPr lang="en-US" dirty="0"/>
              <a:t># Convert Date and Time into one column</a:t>
            </a:r>
          </a:p>
          <a:p>
            <a:r>
              <a:rPr lang="en-US" dirty="0" err="1"/>
              <a:t>df</a:t>
            </a:r>
            <a:r>
              <a:rPr lang="en-US" dirty="0"/>
              <a:t>["</a:t>
            </a:r>
            <a:r>
              <a:rPr lang="en-US" dirty="0" err="1"/>
              <a:t>DateTime</a:t>
            </a:r>
            <a:r>
              <a:rPr lang="en-US" dirty="0"/>
              <a:t>"] = </a:t>
            </a:r>
            <a:r>
              <a:rPr lang="en-US" dirty="0" err="1"/>
              <a:t>pd.to_datetime</a:t>
            </a:r>
            <a:r>
              <a:rPr lang="en-US" dirty="0"/>
              <a:t>(</a:t>
            </a:r>
          </a:p>
          <a:p>
            <a:r>
              <a:rPr lang="en-US" dirty="0"/>
              <a:t>    </a:t>
            </a:r>
            <a:r>
              <a:rPr lang="en-US" dirty="0" err="1"/>
              <a:t>df</a:t>
            </a:r>
            <a:r>
              <a:rPr lang="en-US" dirty="0"/>
              <a:t>["Date"] + " " + </a:t>
            </a:r>
            <a:r>
              <a:rPr lang="en-US" dirty="0" err="1"/>
              <a:t>df</a:t>
            </a:r>
            <a:r>
              <a:rPr lang="en-US" dirty="0"/>
              <a:t>["Time"],</a:t>
            </a:r>
          </a:p>
          <a:p>
            <a:r>
              <a:rPr lang="en-US" dirty="0"/>
              <a:t>    errors="coerce"</a:t>
            </a:r>
          </a:p>
          <a:p>
            <a:r>
              <a:rPr lang="en-US" dirty="0"/>
              <a:t>)</a:t>
            </a:r>
          </a:p>
          <a:p>
            <a:r>
              <a:rPr lang="en-US" dirty="0"/>
              <a:t># Convert Appliances to numeric</a:t>
            </a:r>
          </a:p>
          <a:p>
            <a:r>
              <a:rPr lang="en-US" dirty="0" err="1"/>
              <a:t>df</a:t>
            </a:r>
            <a:r>
              <a:rPr lang="en-US" dirty="0"/>
              <a:t>["Appliances"] = </a:t>
            </a:r>
            <a:r>
              <a:rPr lang="en-US" dirty="0" err="1"/>
              <a:t>pd.to_numeric</a:t>
            </a:r>
            <a:r>
              <a:rPr lang="en-US" dirty="0"/>
              <a:t>(</a:t>
            </a:r>
          </a:p>
          <a:p>
            <a:r>
              <a:rPr lang="en-US" dirty="0"/>
              <a:t>    </a:t>
            </a:r>
            <a:r>
              <a:rPr lang="en-US" dirty="0" err="1"/>
              <a:t>df</a:t>
            </a:r>
            <a:r>
              <a:rPr lang="en-US" dirty="0"/>
              <a:t>["Appliances"],</a:t>
            </a:r>
          </a:p>
          <a:p>
            <a:r>
              <a:rPr lang="en-US" dirty="0"/>
              <a:t>    errors="coerce"</a:t>
            </a:r>
          </a:p>
          <a:p>
            <a:r>
              <a:rPr lang="en-US" dirty="0"/>
              <a:t>)</a:t>
            </a:r>
          </a:p>
          <a:p>
            <a:r>
              <a:rPr lang="en-US" dirty="0"/>
              <a:t># Remove missing and duplicate records</a:t>
            </a:r>
          </a:p>
          <a:p>
            <a:r>
              <a:rPr lang="en-US" dirty="0" err="1"/>
              <a:t>df</a:t>
            </a:r>
            <a:r>
              <a:rPr lang="en-US" dirty="0"/>
              <a:t> = </a:t>
            </a:r>
            <a:r>
              <a:rPr lang="en-US" dirty="0" err="1"/>
              <a:t>df.dropna</a:t>
            </a:r>
            <a:r>
              <a:rPr lang="en-US" dirty="0"/>
              <a:t>(</a:t>
            </a:r>
          </a:p>
          <a:p>
            <a:r>
              <a:rPr lang="en-US" dirty="0"/>
              <a:t>    subset=["</a:t>
            </a:r>
            <a:r>
              <a:rPr lang="en-US" dirty="0" err="1"/>
              <a:t>DateTime</a:t>
            </a:r>
            <a:r>
              <a:rPr lang="en-US" dirty="0"/>
              <a:t>", "Appliances"]</a:t>
            </a:r>
          </a:p>
          <a:p>
            <a:r>
              <a:rPr lang="en-US" dirty="0"/>
              <a:t>)</a:t>
            </a:r>
          </a:p>
          <a:p>
            <a:r>
              <a:rPr lang="en-US" dirty="0" err="1"/>
              <a:t>df</a:t>
            </a:r>
            <a:r>
              <a:rPr lang="en-US" dirty="0"/>
              <a:t> = </a:t>
            </a:r>
            <a:r>
              <a:rPr lang="en-US" dirty="0" err="1"/>
              <a:t>df.drop_duplicates</a:t>
            </a:r>
            <a:r>
              <a:rPr lang="en-US" dirty="0"/>
              <a:t>()</a:t>
            </a:r>
          </a:p>
          <a:p>
            <a:r>
              <a:rPr lang="en-US" dirty="0"/>
              <a:t># Sort data</a:t>
            </a:r>
          </a:p>
          <a:p>
            <a:r>
              <a:rPr lang="en-US" dirty="0" err="1"/>
              <a:t>df</a:t>
            </a:r>
            <a:r>
              <a:rPr lang="en-US" dirty="0"/>
              <a:t> = </a:t>
            </a:r>
            <a:r>
              <a:rPr lang="en-US" dirty="0" err="1"/>
              <a:t>df.sort_values</a:t>
            </a:r>
            <a:r>
              <a:rPr lang="en-US" dirty="0"/>
              <a:t>("</a:t>
            </a:r>
            <a:r>
              <a:rPr lang="en-US" dirty="0" err="1"/>
              <a:t>DateTime</a:t>
            </a:r>
            <a:r>
              <a:rPr lang="en-US" dirty="0"/>
              <a:t>")</a:t>
            </a:r>
          </a:p>
          <a:p>
            <a:r>
              <a:rPr lang="en-US" dirty="0"/>
              <a:t># Create Hour column</a:t>
            </a:r>
          </a:p>
          <a:p>
            <a:r>
              <a:rPr lang="en-US" dirty="0" err="1"/>
              <a:t>df</a:t>
            </a:r>
            <a:r>
              <a:rPr lang="en-US" dirty="0"/>
              <a:t>["Hour"] = </a:t>
            </a:r>
            <a:r>
              <a:rPr lang="en-US" dirty="0" err="1"/>
              <a:t>df</a:t>
            </a:r>
            <a:r>
              <a:rPr lang="en-US" dirty="0"/>
              <a:t>["</a:t>
            </a:r>
            <a:r>
              <a:rPr lang="en-US" dirty="0" err="1"/>
              <a:t>DateTime</a:t>
            </a:r>
            <a:r>
              <a:rPr lang="en-US" dirty="0"/>
              <a:t>"].</a:t>
            </a:r>
            <a:r>
              <a:rPr lang="en-US" dirty="0" err="1"/>
              <a:t>dt.hour</a:t>
            </a:r>
            <a:endParaRPr lang="en-US" dirty="0"/>
          </a:p>
          <a:p>
            <a:r>
              <a:rPr lang="en-US" dirty="0"/>
              <a:t>print("Cleaned Data:")</a:t>
            </a:r>
          </a:p>
          <a:p>
            <a:r>
              <a:rPr lang="en-US" dirty="0"/>
              <a:t>print(</a:t>
            </a:r>
            <a:r>
              <a:rPr lang="en-US" dirty="0" err="1"/>
              <a:t>df.head</a:t>
            </a:r>
            <a:r>
              <a:rPr lang="en-US" dirty="0"/>
              <a:t>())</a:t>
            </a:r>
          </a:p>
        </p:txBody>
      </p:sp>
      <p:sp>
        <p:nvSpPr>
          <p:cNvPr id="15" name="TextBox 14">
            <a:extLst>
              <a:ext uri="{FF2B5EF4-FFF2-40B4-BE49-F238E27FC236}">
                <a16:creationId xmlns:a16="http://schemas.microsoft.com/office/drawing/2014/main" id="{B7FB6BF9-7FD9-9F71-2A30-FFB98AC1C4D9}"/>
              </a:ext>
            </a:extLst>
          </p:cNvPr>
          <p:cNvSpPr txBox="1"/>
          <p:nvPr/>
        </p:nvSpPr>
        <p:spPr>
          <a:xfrm>
            <a:off x="6991714" y="187499"/>
            <a:ext cx="1481368" cy="369332"/>
          </a:xfrm>
          <a:prstGeom prst="rect">
            <a:avLst/>
          </a:prstGeom>
          <a:noFill/>
        </p:spPr>
        <p:txBody>
          <a:bodyPr wrap="none" rtlCol="0">
            <a:spAutoFit/>
          </a:bodyPr>
          <a:lstStyle/>
          <a:p>
            <a:r>
              <a:rPr lang="en-IN" dirty="0">
                <a:solidFill>
                  <a:schemeClr val="tx2">
                    <a:lumMod val="60000"/>
                    <a:lumOff val="40000"/>
                  </a:schemeClr>
                </a:solidFill>
              </a:rPr>
              <a:t>Data Cleaning</a:t>
            </a:r>
            <a:endParaRPr lang="en-US" dirty="0">
              <a:solidFill>
                <a:schemeClr val="tx2">
                  <a:lumMod val="60000"/>
                  <a:lumOff val="40000"/>
                </a:schemeClr>
              </a:solidFill>
            </a:endParaRPr>
          </a:p>
        </p:txBody>
      </p:sp>
      <p:sp>
        <p:nvSpPr>
          <p:cNvPr id="16" name="TextBox 15">
            <a:extLst>
              <a:ext uri="{FF2B5EF4-FFF2-40B4-BE49-F238E27FC236}">
                <a16:creationId xmlns:a16="http://schemas.microsoft.com/office/drawing/2014/main" id="{CC0785CB-3FDF-5233-AAEA-344588E846B7}"/>
              </a:ext>
            </a:extLst>
          </p:cNvPr>
          <p:cNvSpPr txBox="1"/>
          <p:nvPr/>
        </p:nvSpPr>
        <p:spPr>
          <a:xfrm>
            <a:off x="2005874" y="554402"/>
            <a:ext cx="2031197" cy="369332"/>
          </a:xfrm>
          <a:prstGeom prst="rect">
            <a:avLst/>
          </a:prstGeom>
          <a:noFill/>
        </p:spPr>
        <p:txBody>
          <a:bodyPr wrap="none" rtlCol="0">
            <a:spAutoFit/>
          </a:bodyPr>
          <a:lstStyle/>
          <a:p>
            <a:r>
              <a:rPr lang="en-IN" dirty="0">
                <a:solidFill>
                  <a:schemeClr val="tx2">
                    <a:lumMod val="60000"/>
                    <a:lumOff val="40000"/>
                  </a:schemeClr>
                </a:solidFill>
              </a:rPr>
              <a:t>Import &amp; Load Data</a:t>
            </a:r>
            <a:endParaRPr lang="en-US" dirty="0">
              <a:solidFill>
                <a:schemeClr val="tx2">
                  <a:lumMod val="60000"/>
                  <a:lumOff val="40000"/>
                </a:schemeClr>
              </a:solidFill>
            </a:endParaRPr>
          </a:p>
        </p:txBody>
      </p:sp>
    </p:spTree>
    <p:extLst>
      <p:ext uri="{BB962C8B-B14F-4D97-AF65-F5344CB8AC3E}">
        <p14:creationId xmlns:p14="http://schemas.microsoft.com/office/powerpoint/2010/main" val="1958865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67E7BA-72EE-7605-4ED1-1774DBF199BB}"/>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3B8085B5-C1A6-A015-0D20-FD5D0FEDD787}"/>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6" name="Picture 2" descr="C:\Users\My\Desktop\Capture 1.PNG">
            <a:extLst>
              <a:ext uri="{FF2B5EF4-FFF2-40B4-BE49-F238E27FC236}">
                <a16:creationId xmlns:a16="http://schemas.microsoft.com/office/drawing/2014/main" id="{F8193B8A-31B5-5905-DC08-34CB9AF0EA9E}"/>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8" name="TextBox 7">
            <a:extLst>
              <a:ext uri="{FF2B5EF4-FFF2-40B4-BE49-F238E27FC236}">
                <a16:creationId xmlns:a16="http://schemas.microsoft.com/office/drawing/2014/main" id="{99F3A71E-1AD4-EBA8-C150-2517C6B5FEF8}"/>
              </a:ext>
            </a:extLst>
          </p:cNvPr>
          <p:cNvSpPr txBox="1"/>
          <p:nvPr/>
        </p:nvSpPr>
        <p:spPr>
          <a:xfrm>
            <a:off x="579120" y="1443841"/>
            <a:ext cx="6100354" cy="3970318"/>
          </a:xfrm>
          <a:prstGeom prst="rect">
            <a:avLst/>
          </a:prstGeom>
          <a:noFill/>
        </p:spPr>
        <p:txBody>
          <a:bodyPr wrap="square">
            <a:spAutoFit/>
          </a:bodyPr>
          <a:lstStyle/>
          <a:p>
            <a:r>
              <a:rPr lang="en-US" dirty="0"/>
              <a:t># Statistical Analysis</a:t>
            </a:r>
          </a:p>
          <a:p>
            <a:r>
              <a:rPr lang="en-US" dirty="0" err="1"/>
              <a:t>mean_value</a:t>
            </a:r>
            <a:r>
              <a:rPr lang="en-US" dirty="0"/>
              <a:t> = </a:t>
            </a:r>
            <a:r>
              <a:rPr lang="en-US" dirty="0" err="1"/>
              <a:t>df</a:t>
            </a:r>
            <a:r>
              <a:rPr lang="en-US" dirty="0"/>
              <a:t>["Appliances"].mean()</a:t>
            </a:r>
          </a:p>
          <a:p>
            <a:r>
              <a:rPr lang="en-US" dirty="0" err="1"/>
              <a:t>median_value</a:t>
            </a:r>
            <a:r>
              <a:rPr lang="en-US" dirty="0"/>
              <a:t> = </a:t>
            </a:r>
            <a:r>
              <a:rPr lang="en-US" dirty="0" err="1"/>
              <a:t>df</a:t>
            </a:r>
            <a:r>
              <a:rPr lang="en-US" dirty="0"/>
              <a:t>["Appliances"].median()</a:t>
            </a:r>
          </a:p>
          <a:p>
            <a:r>
              <a:rPr lang="en-US" dirty="0"/>
              <a:t>minimum = </a:t>
            </a:r>
            <a:r>
              <a:rPr lang="en-US" dirty="0" err="1"/>
              <a:t>df</a:t>
            </a:r>
            <a:r>
              <a:rPr lang="en-US" dirty="0"/>
              <a:t>["Appliances"].min()</a:t>
            </a:r>
          </a:p>
          <a:p>
            <a:r>
              <a:rPr lang="en-US" dirty="0"/>
              <a:t>maximum = </a:t>
            </a:r>
            <a:r>
              <a:rPr lang="en-US" dirty="0" err="1"/>
              <a:t>df</a:t>
            </a:r>
            <a:r>
              <a:rPr lang="en-US" dirty="0"/>
              <a:t>["Appliances"].max()</a:t>
            </a:r>
          </a:p>
          <a:p>
            <a:r>
              <a:rPr lang="en-US" dirty="0" err="1"/>
              <a:t>std_value</a:t>
            </a:r>
            <a:r>
              <a:rPr lang="en-US" dirty="0"/>
              <a:t> = </a:t>
            </a:r>
            <a:r>
              <a:rPr lang="en-US" dirty="0" err="1"/>
              <a:t>df</a:t>
            </a:r>
            <a:r>
              <a:rPr lang="en-US" dirty="0"/>
              <a:t>["Appliances"].std()</a:t>
            </a:r>
          </a:p>
          <a:p>
            <a:endParaRPr lang="en-US" dirty="0"/>
          </a:p>
          <a:p>
            <a:r>
              <a:rPr lang="en-US" dirty="0"/>
              <a:t>print("STATISTICAL ANALYSIS")</a:t>
            </a:r>
          </a:p>
          <a:p>
            <a:r>
              <a:rPr lang="en-US" dirty="0"/>
              <a:t>print("--------------------")</a:t>
            </a:r>
          </a:p>
          <a:p>
            <a:r>
              <a:rPr lang="en-US" dirty="0"/>
              <a:t>print("Mean:", </a:t>
            </a:r>
            <a:r>
              <a:rPr lang="en-US" dirty="0" err="1"/>
              <a:t>mean_value</a:t>
            </a:r>
            <a:r>
              <a:rPr lang="en-US" dirty="0"/>
              <a:t>)</a:t>
            </a:r>
          </a:p>
          <a:p>
            <a:r>
              <a:rPr lang="en-US" dirty="0"/>
              <a:t>print("Median:", </a:t>
            </a:r>
            <a:r>
              <a:rPr lang="en-US" dirty="0" err="1"/>
              <a:t>median_value</a:t>
            </a:r>
            <a:r>
              <a:rPr lang="en-US" dirty="0"/>
              <a:t>)</a:t>
            </a:r>
          </a:p>
          <a:p>
            <a:r>
              <a:rPr lang="en-US" dirty="0"/>
              <a:t>print("Minimum:", minimum)</a:t>
            </a:r>
          </a:p>
          <a:p>
            <a:r>
              <a:rPr lang="en-US" dirty="0"/>
              <a:t>print("Maximum:", maximum)</a:t>
            </a:r>
          </a:p>
          <a:p>
            <a:r>
              <a:rPr lang="en-US" dirty="0"/>
              <a:t>print("Standard Deviation:", </a:t>
            </a:r>
            <a:r>
              <a:rPr lang="en-US" dirty="0" err="1"/>
              <a:t>std_value</a:t>
            </a:r>
            <a:r>
              <a:rPr lang="en-US" dirty="0"/>
              <a:t>)</a:t>
            </a:r>
          </a:p>
        </p:txBody>
      </p:sp>
      <p:sp>
        <p:nvSpPr>
          <p:cNvPr id="10" name="TextBox 9">
            <a:extLst>
              <a:ext uri="{FF2B5EF4-FFF2-40B4-BE49-F238E27FC236}">
                <a16:creationId xmlns:a16="http://schemas.microsoft.com/office/drawing/2014/main" id="{5D991FD1-09A0-F5FA-28C3-C7B310FBCEED}"/>
              </a:ext>
            </a:extLst>
          </p:cNvPr>
          <p:cNvSpPr txBox="1"/>
          <p:nvPr/>
        </p:nvSpPr>
        <p:spPr>
          <a:xfrm>
            <a:off x="5482046" y="1278038"/>
            <a:ext cx="6100354" cy="5078313"/>
          </a:xfrm>
          <a:prstGeom prst="rect">
            <a:avLst/>
          </a:prstGeom>
          <a:noFill/>
        </p:spPr>
        <p:txBody>
          <a:bodyPr wrap="square">
            <a:spAutoFit/>
          </a:bodyPr>
          <a:lstStyle/>
          <a:p>
            <a:r>
              <a:rPr lang="en-US" dirty="0"/>
              <a:t># Streaming Simulation</a:t>
            </a:r>
          </a:p>
          <a:p>
            <a:r>
              <a:rPr lang="en-US" dirty="0" err="1"/>
              <a:t>stream_data</a:t>
            </a:r>
            <a:r>
              <a:rPr lang="en-US" dirty="0"/>
              <a:t> = []</a:t>
            </a:r>
          </a:p>
          <a:p>
            <a:endParaRPr lang="en-US" dirty="0"/>
          </a:p>
          <a:p>
            <a:r>
              <a:rPr lang="en-US" dirty="0"/>
              <a:t>for value in </a:t>
            </a:r>
            <a:r>
              <a:rPr lang="en-US" dirty="0" err="1"/>
              <a:t>df</a:t>
            </a:r>
            <a:r>
              <a:rPr lang="en-US" dirty="0"/>
              <a:t>["Appliances"].head(100):</a:t>
            </a:r>
          </a:p>
          <a:p>
            <a:r>
              <a:rPr lang="en-US" dirty="0"/>
              <a:t>    </a:t>
            </a:r>
            <a:r>
              <a:rPr lang="en-US" dirty="0" err="1"/>
              <a:t>stream_data.append</a:t>
            </a:r>
            <a:r>
              <a:rPr lang="en-US" dirty="0"/>
              <a:t>(value)</a:t>
            </a:r>
          </a:p>
          <a:p>
            <a:endParaRPr lang="en-US" dirty="0"/>
          </a:p>
          <a:p>
            <a:r>
              <a:rPr lang="en-US" dirty="0" err="1"/>
              <a:t>running_average</a:t>
            </a:r>
            <a:r>
              <a:rPr lang="en-US" dirty="0"/>
              <a:t> = </a:t>
            </a:r>
            <a:r>
              <a:rPr lang="en-US" dirty="0" err="1"/>
              <a:t>np.mean</a:t>
            </a:r>
            <a:r>
              <a:rPr lang="en-US" dirty="0"/>
              <a:t>(</a:t>
            </a:r>
            <a:r>
              <a:rPr lang="en-US" dirty="0" err="1"/>
              <a:t>stream_data</a:t>
            </a:r>
            <a:r>
              <a:rPr lang="en-US" dirty="0"/>
              <a:t>)</a:t>
            </a:r>
          </a:p>
          <a:p>
            <a:endParaRPr lang="en-US" dirty="0"/>
          </a:p>
          <a:p>
            <a:r>
              <a:rPr lang="en-US" dirty="0"/>
              <a:t>print("Streaming Simulation")</a:t>
            </a:r>
          </a:p>
          <a:p>
            <a:r>
              <a:rPr lang="en-US" dirty="0"/>
              <a:t>print("--------------------")</a:t>
            </a:r>
          </a:p>
          <a:p>
            <a:r>
              <a:rPr lang="en-US" dirty="0"/>
              <a:t>print("Records processed:", </a:t>
            </a:r>
            <a:r>
              <a:rPr lang="en-US" dirty="0" err="1"/>
              <a:t>len</a:t>
            </a:r>
            <a:r>
              <a:rPr lang="en-US" dirty="0"/>
              <a:t>(</a:t>
            </a:r>
            <a:r>
              <a:rPr lang="en-US" dirty="0" err="1"/>
              <a:t>stream_data</a:t>
            </a:r>
            <a:r>
              <a:rPr lang="en-US" dirty="0"/>
              <a:t>))</a:t>
            </a:r>
          </a:p>
          <a:p>
            <a:r>
              <a:rPr lang="en-US" dirty="0"/>
              <a:t>print("Running Average:", </a:t>
            </a:r>
            <a:r>
              <a:rPr lang="en-US" dirty="0" err="1"/>
              <a:t>running_average</a:t>
            </a:r>
            <a:r>
              <a:rPr lang="en-US" dirty="0"/>
              <a:t>)</a:t>
            </a:r>
          </a:p>
          <a:p>
            <a:endParaRPr lang="en-US" dirty="0"/>
          </a:p>
          <a:p>
            <a:endParaRPr lang="en-US" dirty="0"/>
          </a:p>
          <a:p>
            <a:r>
              <a:rPr lang="en-US" dirty="0"/>
              <a:t># Moving Average</a:t>
            </a:r>
          </a:p>
          <a:p>
            <a:r>
              <a:rPr lang="en-US" dirty="0" err="1"/>
              <a:t>df</a:t>
            </a:r>
            <a:r>
              <a:rPr lang="en-US" dirty="0"/>
              <a:t>["</a:t>
            </a:r>
            <a:r>
              <a:rPr lang="en-US" dirty="0" err="1"/>
              <a:t>Moving_Average</a:t>
            </a:r>
            <a:r>
              <a:rPr lang="en-US" dirty="0"/>
              <a:t>"] = (</a:t>
            </a:r>
          </a:p>
          <a:p>
            <a:r>
              <a:rPr lang="en-US" dirty="0"/>
              <a:t>    </a:t>
            </a:r>
            <a:r>
              <a:rPr lang="en-US" dirty="0" err="1"/>
              <a:t>df</a:t>
            </a:r>
            <a:r>
              <a:rPr lang="en-US" dirty="0"/>
              <a:t>["Appliances"].rolling(window=10).mean()</a:t>
            </a:r>
          </a:p>
          <a:p>
            <a:r>
              <a:rPr lang="en-US" dirty="0"/>
              <a:t>)</a:t>
            </a:r>
          </a:p>
        </p:txBody>
      </p:sp>
      <p:sp>
        <p:nvSpPr>
          <p:cNvPr id="12" name="TextBox 11">
            <a:extLst>
              <a:ext uri="{FF2B5EF4-FFF2-40B4-BE49-F238E27FC236}">
                <a16:creationId xmlns:a16="http://schemas.microsoft.com/office/drawing/2014/main" id="{173092E1-5B6B-4B4A-2013-6FDB0452F62D}"/>
              </a:ext>
            </a:extLst>
          </p:cNvPr>
          <p:cNvSpPr txBox="1"/>
          <p:nvPr/>
        </p:nvSpPr>
        <p:spPr>
          <a:xfrm>
            <a:off x="1295400" y="986034"/>
            <a:ext cx="6100354" cy="369332"/>
          </a:xfrm>
          <a:prstGeom prst="rect">
            <a:avLst/>
          </a:prstGeom>
          <a:noFill/>
        </p:spPr>
        <p:txBody>
          <a:bodyPr wrap="square">
            <a:spAutoFit/>
          </a:bodyPr>
          <a:lstStyle/>
          <a:p>
            <a:r>
              <a:rPr lang="en-IN">
                <a:solidFill>
                  <a:schemeClr val="tx2">
                    <a:lumMod val="60000"/>
                    <a:lumOff val="40000"/>
                  </a:schemeClr>
                </a:solidFill>
              </a:rPr>
              <a:t>Statistical Analysis</a:t>
            </a:r>
            <a:endParaRPr lang="en-US" dirty="0">
              <a:solidFill>
                <a:schemeClr val="tx2">
                  <a:lumMod val="60000"/>
                  <a:lumOff val="40000"/>
                </a:schemeClr>
              </a:solidFill>
            </a:endParaRPr>
          </a:p>
        </p:txBody>
      </p:sp>
      <p:sp>
        <p:nvSpPr>
          <p:cNvPr id="13" name="TextBox 12">
            <a:extLst>
              <a:ext uri="{FF2B5EF4-FFF2-40B4-BE49-F238E27FC236}">
                <a16:creationId xmlns:a16="http://schemas.microsoft.com/office/drawing/2014/main" id="{50DAC279-8B13-0A7C-0E35-A0519701DAC2}"/>
              </a:ext>
            </a:extLst>
          </p:cNvPr>
          <p:cNvSpPr txBox="1"/>
          <p:nvPr/>
        </p:nvSpPr>
        <p:spPr>
          <a:xfrm>
            <a:off x="6082937" y="646407"/>
            <a:ext cx="2914965" cy="369332"/>
          </a:xfrm>
          <a:prstGeom prst="rect">
            <a:avLst/>
          </a:prstGeom>
          <a:noFill/>
        </p:spPr>
        <p:txBody>
          <a:bodyPr wrap="none" rtlCol="0">
            <a:spAutoFit/>
          </a:bodyPr>
          <a:lstStyle/>
          <a:p>
            <a:r>
              <a:rPr lang="en-IN" dirty="0">
                <a:solidFill>
                  <a:schemeClr val="tx2">
                    <a:lumMod val="60000"/>
                    <a:lumOff val="40000"/>
                  </a:schemeClr>
                </a:solidFill>
              </a:rPr>
              <a:t>Streaming &amp; Moving Average</a:t>
            </a:r>
            <a:endParaRPr lang="en-US" dirty="0">
              <a:solidFill>
                <a:schemeClr val="tx2">
                  <a:lumMod val="60000"/>
                  <a:lumOff val="40000"/>
                </a:schemeClr>
              </a:solidFill>
            </a:endParaRPr>
          </a:p>
        </p:txBody>
      </p:sp>
    </p:spTree>
    <p:extLst>
      <p:ext uri="{BB962C8B-B14F-4D97-AF65-F5344CB8AC3E}">
        <p14:creationId xmlns:p14="http://schemas.microsoft.com/office/powerpoint/2010/main" val="192536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AFB7BE-7357-DC2B-DD5F-5B5F42F105EC}"/>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7C6B4FA7-EC48-3945-087A-D6CB03997A81}"/>
              </a:ext>
            </a:extLst>
          </p:cNvPr>
          <p:cNvSpPr>
            <a:spLocks noGrp="1"/>
          </p:cNvSpPr>
          <p:nvPr>
            <p:ph type="sldNum" sz="quarter" idx="12"/>
          </p:nvPr>
        </p:nvSpPr>
        <p:spPr/>
        <p:txBody>
          <a:bodyPr/>
          <a:lstStyle/>
          <a:p>
            <a:fld id="{B6F15528-21DE-4FAA-801E-634DDDAF4B2B}" type="slidenum">
              <a:rPr lang="en-US" smtClean="0"/>
              <a:pPr/>
              <a:t>12</a:t>
            </a:fld>
            <a:endParaRPr lang="en-US"/>
          </a:p>
        </p:txBody>
      </p:sp>
      <p:pic>
        <p:nvPicPr>
          <p:cNvPr id="6" name="Picture 2" descr="C:\Users\My\Desktop\Capture 1.PNG">
            <a:extLst>
              <a:ext uri="{FF2B5EF4-FFF2-40B4-BE49-F238E27FC236}">
                <a16:creationId xmlns:a16="http://schemas.microsoft.com/office/drawing/2014/main" id="{BB11D573-9798-792E-0FC2-0F20417D06C3}"/>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8" name="TextBox 7">
            <a:extLst>
              <a:ext uri="{FF2B5EF4-FFF2-40B4-BE49-F238E27FC236}">
                <a16:creationId xmlns:a16="http://schemas.microsoft.com/office/drawing/2014/main" id="{161836C6-83DB-6607-07E1-DAEF7992EC91}"/>
              </a:ext>
            </a:extLst>
          </p:cNvPr>
          <p:cNvSpPr txBox="1"/>
          <p:nvPr/>
        </p:nvSpPr>
        <p:spPr>
          <a:xfrm>
            <a:off x="2040709" y="535167"/>
            <a:ext cx="6100354" cy="6186309"/>
          </a:xfrm>
          <a:prstGeom prst="rect">
            <a:avLst/>
          </a:prstGeom>
          <a:noFill/>
        </p:spPr>
        <p:txBody>
          <a:bodyPr wrap="square">
            <a:spAutoFit/>
          </a:bodyPr>
          <a:lstStyle/>
          <a:p>
            <a:r>
              <a:rPr lang="en-US" dirty="0"/>
              <a:t># Anomaly Detection</a:t>
            </a:r>
          </a:p>
          <a:p>
            <a:r>
              <a:rPr lang="en-US" dirty="0"/>
              <a:t>mean = </a:t>
            </a:r>
            <a:r>
              <a:rPr lang="en-US" dirty="0" err="1"/>
              <a:t>df</a:t>
            </a:r>
            <a:r>
              <a:rPr lang="en-US" dirty="0"/>
              <a:t>["Appliances"].mean()</a:t>
            </a:r>
          </a:p>
          <a:p>
            <a:r>
              <a:rPr lang="en-US" dirty="0"/>
              <a:t>std = </a:t>
            </a:r>
            <a:r>
              <a:rPr lang="en-US" dirty="0" err="1"/>
              <a:t>df</a:t>
            </a:r>
            <a:r>
              <a:rPr lang="en-US" dirty="0"/>
              <a:t>["Appliances"].std()</a:t>
            </a:r>
          </a:p>
          <a:p>
            <a:r>
              <a:rPr lang="en-US" dirty="0" err="1"/>
              <a:t>upper_limit</a:t>
            </a:r>
            <a:r>
              <a:rPr lang="en-US" dirty="0"/>
              <a:t> = mean + (2 * std)</a:t>
            </a:r>
          </a:p>
          <a:p>
            <a:r>
              <a:rPr lang="en-US" dirty="0" err="1"/>
              <a:t>lower_limit</a:t>
            </a:r>
            <a:r>
              <a:rPr lang="en-US" dirty="0"/>
              <a:t> = mean - (2 * std)</a:t>
            </a:r>
          </a:p>
          <a:p>
            <a:r>
              <a:rPr lang="en-US" dirty="0" err="1"/>
              <a:t>df</a:t>
            </a:r>
            <a:r>
              <a:rPr lang="en-US" dirty="0"/>
              <a:t>["Anomaly"] = (</a:t>
            </a:r>
          </a:p>
          <a:p>
            <a:r>
              <a:rPr lang="en-US" dirty="0"/>
              <a:t>    (</a:t>
            </a:r>
            <a:r>
              <a:rPr lang="en-US" dirty="0" err="1"/>
              <a:t>df</a:t>
            </a:r>
            <a:r>
              <a:rPr lang="en-US" dirty="0"/>
              <a:t>["Appliances"] &gt; </a:t>
            </a:r>
            <a:r>
              <a:rPr lang="en-US" dirty="0" err="1"/>
              <a:t>upper_limit</a:t>
            </a:r>
            <a:r>
              <a:rPr lang="en-US" dirty="0"/>
              <a:t>) |</a:t>
            </a:r>
          </a:p>
          <a:p>
            <a:r>
              <a:rPr lang="en-US" dirty="0"/>
              <a:t>    (</a:t>
            </a:r>
            <a:r>
              <a:rPr lang="en-US" dirty="0" err="1"/>
              <a:t>df</a:t>
            </a:r>
            <a:r>
              <a:rPr lang="en-US" dirty="0"/>
              <a:t>["Appliances"] &lt; </a:t>
            </a:r>
            <a:r>
              <a:rPr lang="en-US" dirty="0" err="1"/>
              <a:t>lower_limit</a:t>
            </a:r>
            <a:r>
              <a:rPr lang="en-US" dirty="0"/>
              <a:t>)</a:t>
            </a:r>
          </a:p>
          <a:p>
            <a:r>
              <a:rPr lang="en-US" dirty="0"/>
              <a:t>)</a:t>
            </a:r>
          </a:p>
          <a:p>
            <a:r>
              <a:rPr lang="en-US" dirty="0"/>
              <a:t>anomalies = </a:t>
            </a:r>
            <a:r>
              <a:rPr lang="en-US" dirty="0" err="1"/>
              <a:t>df</a:t>
            </a:r>
            <a:r>
              <a:rPr lang="en-US" dirty="0"/>
              <a:t>[</a:t>
            </a:r>
            <a:r>
              <a:rPr lang="en-US" dirty="0" err="1"/>
              <a:t>df</a:t>
            </a:r>
            <a:r>
              <a:rPr lang="en-US" dirty="0"/>
              <a:t>["Anomaly"]]</a:t>
            </a:r>
          </a:p>
          <a:p>
            <a:r>
              <a:rPr lang="en-US" dirty="0"/>
              <a:t>print("Number of anomalies:", </a:t>
            </a:r>
            <a:r>
              <a:rPr lang="en-US" dirty="0" err="1"/>
              <a:t>len</a:t>
            </a:r>
            <a:r>
              <a:rPr lang="en-US" dirty="0"/>
              <a:t>(anomalies))</a:t>
            </a:r>
          </a:p>
          <a:p>
            <a:r>
              <a:rPr lang="en-US" dirty="0"/>
              <a:t># Peak Consumption</a:t>
            </a:r>
          </a:p>
          <a:p>
            <a:r>
              <a:rPr lang="en-US" dirty="0" err="1"/>
              <a:t>peak_value</a:t>
            </a:r>
            <a:r>
              <a:rPr lang="en-US" dirty="0"/>
              <a:t> = </a:t>
            </a:r>
            <a:r>
              <a:rPr lang="en-US" dirty="0" err="1"/>
              <a:t>df</a:t>
            </a:r>
            <a:r>
              <a:rPr lang="en-US" dirty="0"/>
              <a:t>["Appliances"].max()</a:t>
            </a:r>
          </a:p>
          <a:p>
            <a:r>
              <a:rPr lang="en-US" dirty="0" err="1"/>
              <a:t>peak_record</a:t>
            </a:r>
            <a:r>
              <a:rPr lang="en-US" dirty="0"/>
              <a:t> = </a:t>
            </a:r>
            <a:r>
              <a:rPr lang="en-US" dirty="0" err="1"/>
              <a:t>df</a:t>
            </a:r>
            <a:r>
              <a:rPr lang="en-US" dirty="0"/>
              <a:t>[</a:t>
            </a:r>
          </a:p>
          <a:p>
            <a:r>
              <a:rPr lang="en-US" dirty="0"/>
              <a:t>    </a:t>
            </a:r>
            <a:r>
              <a:rPr lang="en-US" dirty="0" err="1"/>
              <a:t>df</a:t>
            </a:r>
            <a:r>
              <a:rPr lang="en-US" dirty="0"/>
              <a:t>["Appliances"] == </a:t>
            </a:r>
            <a:r>
              <a:rPr lang="en-US" dirty="0" err="1"/>
              <a:t>peak_value</a:t>
            </a:r>
            <a:endParaRPr lang="en-US" dirty="0"/>
          </a:p>
          <a:p>
            <a:r>
              <a:rPr lang="en-US" dirty="0"/>
              <a:t>]</a:t>
            </a:r>
          </a:p>
          <a:p>
            <a:r>
              <a:rPr lang="en-US" dirty="0"/>
              <a:t>print("Peak Consumption:")</a:t>
            </a:r>
          </a:p>
          <a:p>
            <a:r>
              <a:rPr lang="en-US" dirty="0"/>
              <a:t>print(</a:t>
            </a:r>
          </a:p>
          <a:p>
            <a:r>
              <a:rPr lang="en-US" dirty="0"/>
              <a:t>    </a:t>
            </a:r>
            <a:r>
              <a:rPr lang="en-US" dirty="0" err="1"/>
              <a:t>peak_record</a:t>
            </a:r>
            <a:r>
              <a:rPr lang="en-US" dirty="0"/>
              <a:t>[</a:t>
            </a:r>
          </a:p>
          <a:p>
            <a:r>
              <a:rPr lang="en-US" dirty="0"/>
              <a:t>        ["</a:t>
            </a:r>
            <a:r>
              <a:rPr lang="en-US" dirty="0" err="1"/>
              <a:t>DateTime</a:t>
            </a:r>
            <a:r>
              <a:rPr lang="en-US" dirty="0"/>
              <a:t>", "Appliances"]</a:t>
            </a:r>
          </a:p>
          <a:p>
            <a:r>
              <a:rPr lang="en-US" dirty="0"/>
              <a:t>    ]</a:t>
            </a:r>
          </a:p>
          <a:p>
            <a:r>
              <a:rPr lang="en-US" dirty="0"/>
              <a:t>)</a:t>
            </a:r>
          </a:p>
        </p:txBody>
      </p:sp>
      <p:sp>
        <p:nvSpPr>
          <p:cNvPr id="9" name="TextBox 8">
            <a:extLst>
              <a:ext uri="{FF2B5EF4-FFF2-40B4-BE49-F238E27FC236}">
                <a16:creationId xmlns:a16="http://schemas.microsoft.com/office/drawing/2014/main" id="{AB1698CB-6B99-7B70-AF1E-DE2DAD6909AD}"/>
              </a:ext>
            </a:extLst>
          </p:cNvPr>
          <p:cNvSpPr txBox="1"/>
          <p:nvPr/>
        </p:nvSpPr>
        <p:spPr>
          <a:xfrm>
            <a:off x="2667000" y="180968"/>
            <a:ext cx="2691442" cy="369332"/>
          </a:xfrm>
          <a:prstGeom prst="rect">
            <a:avLst/>
          </a:prstGeom>
          <a:noFill/>
        </p:spPr>
        <p:txBody>
          <a:bodyPr wrap="none" rtlCol="0">
            <a:spAutoFit/>
          </a:bodyPr>
          <a:lstStyle/>
          <a:p>
            <a:r>
              <a:rPr lang="en-IN" dirty="0">
                <a:solidFill>
                  <a:schemeClr val="tx2">
                    <a:lumMod val="60000"/>
                    <a:lumOff val="40000"/>
                  </a:schemeClr>
                </a:solidFill>
              </a:rPr>
              <a:t>Anomaly &amp; Peak Detection</a:t>
            </a:r>
            <a:endParaRPr lang="en-US" dirty="0">
              <a:solidFill>
                <a:schemeClr val="tx2">
                  <a:lumMod val="60000"/>
                  <a:lumOff val="40000"/>
                </a:schemeClr>
              </a:solidFill>
            </a:endParaRPr>
          </a:p>
        </p:txBody>
      </p:sp>
      <p:sp>
        <p:nvSpPr>
          <p:cNvPr id="11" name="TextBox 10">
            <a:extLst>
              <a:ext uri="{FF2B5EF4-FFF2-40B4-BE49-F238E27FC236}">
                <a16:creationId xmlns:a16="http://schemas.microsoft.com/office/drawing/2014/main" id="{08CB0386-D4EF-9ECC-FC42-8ACDAA542CB5}"/>
              </a:ext>
            </a:extLst>
          </p:cNvPr>
          <p:cNvSpPr txBox="1"/>
          <p:nvPr/>
        </p:nvSpPr>
        <p:spPr>
          <a:xfrm>
            <a:off x="6688183" y="187499"/>
            <a:ext cx="5181600" cy="6740307"/>
          </a:xfrm>
          <a:prstGeom prst="rect">
            <a:avLst/>
          </a:prstGeom>
          <a:noFill/>
        </p:spPr>
        <p:txBody>
          <a:bodyPr wrap="square">
            <a:spAutoFit/>
          </a:bodyPr>
          <a:lstStyle/>
          <a:p>
            <a:r>
              <a:rPr lang="en-US" dirty="0"/>
              <a:t># Hourly Analysis</a:t>
            </a:r>
          </a:p>
          <a:p>
            <a:r>
              <a:rPr lang="en-US" dirty="0" err="1"/>
              <a:t>hourly_consumption</a:t>
            </a:r>
            <a:r>
              <a:rPr lang="en-US" dirty="0"/>
              <a:t> = (</a:t>
            </a:r>
          </a:p>
          <a:p>
            <a:r>
              <a:rPr lang="en-US" dirty="0"/>
              <a:t>    </a:t>
            </a:r>
            <a:r>
              <a:rPr lang="en-US" dirty="0" err="1"/>
              <a:t>df.groupby</a:t>
            </a:r>
            <a:r>
              <a:rPr lang="en-US" dirty="0"/>
              <a:t>("Hour")["Appliances"].mean())</a:t>
            </a:r>
          </a:p>
          <a:p>
            <a:r>
              <a:rPr lang="en-US" dirty="0"/>
              <a:t>print("HOURLY CONSUMPTION")</a:t>
            </a:r>
          </a:p>
          <a:p>
            <a:r>
              <a:rPr lang="en-US" dirty="0"/>
              <a:t>print(</a:t>
            </a:r>
            <a:r>
              <a:rPr lang="en-US" dirty="0" err="1"/>
              <a:t>hourly_consumption</a:t>
            </a:r>
            <a:r>
              <a:rPr lang="en-US" dirty="0"/>
              <a:t>)</a:t>
            </a:r>
          </a:p>
          <a:p>
            <a:r>
              <a:rPr lang="en-US" dirty="0" err="1"/>
              <a:t>plt.figure</a:t>
            </a:r>
            <a:r>
              <a:rPr lang="en-US" dirty="0"/>
              <a:t>(</a:t>
            </a:r>
            <a:r>
              <a:rPr lang="en-US" dirty="0" err="1"/>
              <a:t>figsize</a:t>
            </a:r>
            <a:r>
              <a:rPr lang="en-US" dirty="0"/>
              <a:t>=(12, 5))</a:t>
            </a:r>
          </a:p>
          <a:p>
            <a:r>
              <a:rPr lang="en-US" dirty="0" err="1"/>
              <a:t>plt.plot</a:t>
            </a:r>
            <a:r>
              <a:rPr lang="en-US" dirty="0"/>
              <a:t>(</a:t>
            </a:r>
          </a:p>
          <a:p>
            <a:r>
              <a:rPr lang="en-US" dirty="0"/>
              <a:t>    </a:t>
            </a:r>
            <a:r>
              <a:rPr lang="en-US" dirty="0" err="1"/>
              <a:t>df</a:t>
            </a:r>
            <a:r>
              <a:rPr lang="en-US" dirty="0"/>
              <a:t>["</a:t>
            </a:r>
            <a:r>
              <a:rPr lang="en-US" dirty="0" err="1"/>
              <a:t>DateTime</a:t>
            </a:r>
            <a:r>
              <a:rPr lang="en-US" dirty="0"/>
              <a:t>"],</a:t>
            </a:r>
          </a:p>
          <a:p>
            <a:r>
              <a:rPr lang="en-US" dirty="0"/>
              <a:t>    </a:t>
            </a:r>
            <a:r>
              <a:rPr lang="en-US" dirty="0" err="1"/>
              <a:t>df</a:t>
            </a:r>
            <a:r>
              <a:rPr lang="en-US" dirty="0"/>
              <a:t>["Appliances"],</a:t>
            </a:r>
          </a:p>
          <a:p>
            <a:r>
              <a:rPr lang="en-US" dirty="0"/>
              <a:t>    label="Energy Consumption"</a:t>
            </a:r>
          </a:p>
          <a:p>
            <a:r>
              <a:rPr lang="en-US" dirty="0"/>
              <a:t>)</a:t>
            </a:r>
          </a:p>
          <a:p>
            <a:r>
              <a:rPr lang="en-US" dirty="0" err="1"/>
              <a:t>plt.xlabel</a:t>
            </a:r>
            <a:r>
              <a:rPr lang="en-US" dirty="0"/>
              <a:t>("Time")</a:t>
            </a:r>
          </a:p>
          <a:p>
            <a:r>
              <a:rPr lang="en-US" dirty="0" err="1"/>
              <a:t>plt.ylabel</a:t>
            </a:r>
            <a:r>
              <a:rPr lang="en-US" dirty="0"/>
              <a:t>("Energy Consumption")</a:t>
            </a:r>
          </a:p>
          <a:p>
            <a:r>
              <a:rPr lang="en-US" dirty="0" err="1"/>
              <a:t>plt.title</a:t>
            </a:r>
            <a:r>
              <a:rPr lang="en-US" dirty="0"/>
              <a:t>("Energy Consumption Over Time")</a:t>
            </a:r>
          </a:p>
          <a:p>
            <a:r>
              <a:rPr lang="en-US" dirty="0" err="1"/>
              <a:t>plt.legend</a:t>
            </a:r>
            <a:r>
              <a:rPr lang="en-US" dirty="0"/>
              <a:t>()</a:t>
            </a:r>
          </a:p>
          <a:p>
            <a:r>
              <a:rPr lang="en-US" dirty="0" err="1"/>
              <a:t>plt.xticks</a:t>
            </a:r>
            <a:r>
              <a:rPr lang="en-US" dirty="0"/>
              <a:t>(rotation=45)</a:t>
            </a:r>
          </a:p>
          <a:p>
            <a:r>
              <a:rPr lang="en-US" dirty="0" err="1"/>
              <a:t>plt.tight_layout</a:t>
            </a:r>
            <a:r>
              <a:rPr lang="en-US" dirty="0"/>
              <a:t>()</a:t>
            </a:r>
          </a:p>
          <a:p>
            <a:r>
              <a:rPr lang="en-US" dirty="0" err="1"/>
              <a:t>plt.show</a:t>
            </a:r>
            <a:r>
              <a:rPr lang="en-US" dirty="0"/>
              <a:t>()</a:t>
            </a:r>
          </a:p>
          <a:p>
            <a:r>
              <a:rPr lang="en-US" dirty="0" err="1"/>
              <a:t>plt.figure</a:t>
            </a:r>
            <a:r>
              <a:rPr lang="en-US" dirty="0"/>
              <a:t>(</a:t>
            </a:r>
            <a:r>
              <a:rPr lang="en-US" dirty="0" err="1"/>
              <a:t>figsize</a:t>
            </a:r>
            <a:r>
              <a:rPr lang="en-US" dirty="0"/>
              <a:t>=(10, 5))</a:t>
            </a:r>
          </a:p>
          <a:p>
            <a:r>
              <a:rPr lang="en-US" dirty="0" err="1"/>
              <a:t>plt.bar</a:t>
            </a:r>
            <a:r>
              <a:rPr lang="en-US" dirty="0"/>
              <a:t>(</a:t>
            </a:r>
          </a:p>
          <a:p>
            <a:r>
              <a:rPr lang="en-US" dirty="0"/>
              <a:t>    </a:t>
            </a:r>
            <a:r>
              <a:rPr lang="en-US" dirty="0" err="1"/>
              <a:t>hourly_consumption.index</a:t>
            </a:r>
            <a:r>
              <a:rPr lang="en-US" dirty="0"/>
              <a:t>,</a:t>
            </a:r>
          </a:p>
          <a:p>
            <a:r>
              <a:rPr lang="en-US" dirty="0"/>
              <a:t>    </a:t>
            </a:r>
            <a:r>
              <a:rPr lang="en-US" dirty="0" err="1"/>
              <a:t>hourly_consumption.values</a:t>
            </a:r>
            <a:r>
              <a:rPr lang="en-US" dirty="0"/>
              <a:t>)</a:t>
            </a:r>
          </a:p>
          <a:p>
            <a:r>
              <a:rPr lang="en-US" dirty="0" err="1"/>
              <a:t>plt.xlabel</a:t>
            </a:r>
            <a:r>
              <a:rPr lang="en-US" dirty="0"/>
              <a:t>("Hour")</a:t>
            </a:r>
          </a:p>
          <a:p>
            <a:r>
              <a:rPr lang="en-US" dirty="0" err="1"/>
              <a:t>plt.ylabel</a:t>
            </a:r>
            <a:r>
              <a:rPr lang="en-US" dirty="0"/>
              <a:t>("Average Consumption")</a:t>
            </a:r>
          </a:p>
        </p:txBody>
      </p:sp>
    </p:spTree>
    <p:extLst>
      <p:ext uri="{BB962C8B-B14F-4D97-AF65-F5344CB8AC3E}">
        <p14:creationId xmlns:p14="http://schemas.microsoft.com/office/powerpoint/2010/main" val="388188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8093AE-F4C3-EF04-CCAC-BFB84E8ADA3C}"/>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EA57C8F8-080D-A771-8D08-644326EDF0AB}"/>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6" name="Picture 2" descr="C:\Users\My\Desktop\Capture 1.PNG">
            <a:extLst>
              <a:ext uri="{FF2B5EF4-FFF2-40B4-BE49-F238E27FC236}">
                <a16:creationId xmlns:a16="http://schemas.microsoft.com/office/drawing/2014/main" id="{57EAC06F-11D2-3561-4CDC-E850F8076EC5}"/>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10" name="TextBox 9">
            <a:extLst>
              <a:ext uri="{FF2B5EF4-FFF2-40B4-BE49-F238E27FC236}">
                <a16:creationId xmlns:a16="http://schemas.microsoft.com/office/drawing/2014/main" id="{454074E7-AEBE-5B0A-7DEC-BBBD4557D80B}"/>
              </a:ext>
            </a:extLst>
          </p:cNvPr>
          <p:cNvSpPr txBox="1"/>
          <p:nvPr/>
        </p:nvSpPr>
        <p:spPr>
          <a:xfrm>
            <a:off x="637903" y="1066800"/>
            <a:ext cx="6100354" cy="3693319"/>
          </a:xfrm>
          <a:prstGeom prst="rect">
            <a:avLst/>
          </a:prstGeom>
          <a:noFill/>
        </p:spPr>
        <p:txBody>
          <a:bodyPr wrap="square">
            <a:spAutoFit/>
          </a:bodyPr>
          <a:lstStyle/>
          <a:p>
            <a:r>
              <a:rPr lang="en-IN" dirty="0"/>
              <a:t># Moving Average Graph</a:t>
            </a:r>
          </a:p>
          <a:p>
            <a:r>
              <a:rPr lang="en-IN" dirty="0"/>
              <a:t> </a:t>
            </a:r>
            <a:r>
              <a:rPr lang="en-IN" dirty="0" err="1"/>
              <a:t>plt.figure</a:t>
            </a:r>
            <a:r>
              <a:rPr lang="en-IN" dirty="0"/>
              <a:t>(</a:t>
            </a:r>
            <a:r>
              <a:rPr lang="en-IN" dirty="0" err="1"/>
              <a:t>figsize</a:t>
            </a:r>
            <a:r>
              <a:rPr lang="en-IN" dirty="0"/>
              <a:t>=(12, 5)) </a:t>
            </a:r>
          </a:p>
          <a:p>
            <a:r>
              <a:rPr lang="en-IN" dirty="0" err="1"/>
              <a:t>plt.plot</a:t>
            </a:r>
            <a:r>
              <a:rPr lang="en-IN" dirty="0"/>
              <a:t>( </a:t>
            </a:r>
          </a:p>
          <a:p>
            <a:r>
              <a:rPr lang="en-IN" dirty="0" err="1"/>
              <a:t>df</a:t>
            </a:r>
            <a:r>
              <a:rPr lang="en-IN" dirty="0"/>
              <a:t>["</a:t>
            </a:r>
            <a:r>
              <a:rPr lang="en-IN" dirty="0" err="1"/>
              <a:t>DateTime</a:t>
            </a:r>
            <a:r>
              <a:rPr lang="en-IN" dirty="0"/>
              <a:t>"], </a:t>
            </a:r>
            <a:r>
              <a:rPr lang="en-IN" dirty="0" err="1"/>
              <a:t>df</a:t>
            </a:r>
            <a:r>
              <a:rPr lang="en-IN" dirty="0"/>
              <a:t>["Appliances"], label="Actual" )</a:t>
            </a:r>
          </a:p>
          <a:p>
            <a:r>
              <a:rPr lang="en-IN" dirty="0"/>
              <a:t> </a:t>
            </a:r>
            <a:r>
              <a:rPr lang="en-IN" dirty="0" err="1"/>
              <a:t>plt.plot</a:t>
            </a:r>
            <a:r>
              <a:rPr lang="en-IN" dirty="0"/>
              <a:t>( </a:t>
            </a:r>
          </a:p>
          <a:p>
            <a:r>
              <a:rPr lang="en-IN" dirty="0" err="1"/>
              <a:t>df</a:t>
            </a:r>
            <a:r>
              <a:rPr lang="en-IN" dirty="0"/>
              <a:t>["</a:t>
            </a:r>
            <a:r>
              <a:rPr lang="en-IN" dirty="0" err="1"/>
              <a:t>DateTime</a:t>
            </a:r>
            <a:r>
              <a:rPr lang="en-IN" dirty="0"/>
              <a:t>"], </a:t>
            </a:r>
            <a:r>
              <a:rPr lang="en-IN" dirty="0" err="1"/>
              <a:t>df</a:t>
            </a:r>
            <a:r>
              <a:rPr lang="en-IN" dirty="0"/>
              <a:t>["</a:t>
            </a:r>
            <a:r>
              <a:rPr lang="en-IN" dirty="0" err="1"/>
              <a:t>Moving_Average</a:t>
            </a:r>
            <a:r>
              <a:rPr lang="en-IN" dirty="0"/>
              <a:t>"], label="Moving Average" ) </a:t>
            </a:r>
          </a:p>
          <a:p>
            <a:r>
              <a:rPr lang="en-IN" dirty="0" err="1"/>
              <a:t>plt.xlabel</a:t>
            </a:r>
            <a:r>
              <a:rPr lang="en-IN" dirty="0"/>
              <a:t>("Time")</a:t>
            </a:r>
          </a:p>
          <a:p>
            <a:r>
              <a:rPr lang="en-IN" dirty="0"/>
              <a:t> </a:t>
            </a:r>
            <a:r>
              <a:rPr lang="en-IN" dirty="0" err="1"/>
              <a:t>plt.ylabel</a:t>
            </a:r>
            <a:r>
              <a:rPr lang="en-IN" dirty="0"/>
              <a:t>("Consumption") </a:t>
            </a:r>
          </a:p>
          <a:p>
            <a:r>
              <a:rPr lang="en-IN" dirty="0" err="1"/>
              <a:t>plt.title</a:t>
            </a:r>
            <a:r>
              <a:rPr lang="en-IN" dirty="0"/>
              <a:t>("Energy Consumption Trend") </a:t>
            </a:r>
          </a:p>
          <a:p>
            <a:r>
              <a:rPr lang="en-IN" dirty="0" err="1"/>
              <a:t>plt.legend</a:t>
            </a:r>
            <a:r>
              <a:rPr lang="en-IN" dirty="0"/>
              <a:t>() </a:t>
            </a:r>
          </a:p>
          <a:p>
            <a:r>
              <a:rPr lang="en-IN" dirty="0" err="1"/>
              <a:t>plt.xticks</a:t>
            </a:r>
            <a:r>
              <a:rPr lang="en-IN" dirty="0"/>
              <a:t>(rotation=45) </a:t>
            </a:r>
          </a:p>
          <a:p>
            <a:r>
              <a:rPr lang="en-IN" dirty="0" err="1"/>
              <a:t>plt.tight_layout</a:t>
            </a:r>
            <a:r>
              <a:rPr lang="en-IN" dirty="0"/>
              <a:t>() </a:t>
            </a:r>
            <a:r>
              <a:rPr lang="en-IN" dirty="0" err="1"/>
              <a:t>plt.show</a:t>
            </a:r>
            <a:r>
              <a:rPr lang="en-IN" dirty="0"/>
              <a:t>()</a:t>
            </a:r>
            <a:endParaRPr lang="en-US" dirty="0"/>
          </a:p>
        </p:txBody>
      </p:sp>
      <p:sp>
        <p:nvSpPr>
          <p:cNvPr id="12" name="TextBox 11">
            <a:extLst>
              <a:ext uri="{FF2B5EF4-FFF2-40B4-BE49-F238E27FC236}">
                <a16:creationId xmlns:a16="http://schemas.microsoft.com/office/drawing/2014/main" id="{4D473198-7C77-BAA6-127B-00424BBCC3EC}"/>
              </a:ext>
            </a:extLst>
          </p:cNvPr>
          <p:cNvSpPr txBox="1"/>
          <p:nvPr/>
        </p:nvSpPr>
        <p:spPr>
          <a:xfrm>
            <a:off x="5867400" y="804991"/>
            <a:ext cx="6100354" cy="4524315"/>
          </a:xfrm>
          <a:prstGeom prst="rect">
            <a:avLst/>
          </a:prstGeom>
          <a:noFill/>
        </p:spPr>
        <p:txBody>
          <a:bodyPr wrap="square">
            <a:spAutoFit/>
          </a:bodyPr>
          <a:lstStyle/>
          <a:p>
            <a:r>
              <a:rPr lang="en-IN" dirty="0"/>
              <a:t># Anomaly Detection Graph </a:t>
            </a:r>
          </a:p>
          <a:p>
            <a:r>
              <a:rPr lang="en-IN" dirty="0" err="1"/>
              <a:t>plt.figure</a:t>
            </a:r>
            <a:r>
              <a:rPr lang="en-IN" dirty="0"/>
              <a:t>(</a:t>
            </a:r>
            <a:r>
              <a:rPr lang="en-IN" dirty="0" err="1"/>
              <a:t>figsize</a:t>
            </a:r>
            <a:r>
              <a:rPr lang="en-IN" dirty="0"/>
              <a:t>=(12, 5)) </a:t>
            </a:r>
          </a:p>
          <a:p>
            <a:endParaRPr lang="en-IN" dirty="0"/>
          </a:p>
          <a:p>
            <a:r>
              <a:rPr lang="en-IN" dirty="0" err="1"/>
              <a:t>plt.plot</a:t>
            </a:r>
            <a:r>
              <a:rPr lang="en-IN" dirty="0"/>
              <a:t>( </a:t>
            </a:r>
            <a:r>
              <a:rPr lang="en-IN" dirty="0" err="1"/>
              <a:t>df</a:t>
            </a:r>
            <a:r>
              <a:rPr lang="en-IN" dirty="0"/>
              <a:t>["</a:t>
            </a:r>
            <a:r>
              <a:rPr lang="en-IN" dirty="0" err="1"/>
              <a:t>DateTime</a:t>
            </a:r>
            <a:r>
              <a:rPr lang="en-IN" dirty="0"/>
              <a:t>"], </a:t>
            </a:r>
            <a:r>
              <a:rPr lang="en-IN" dirty="0" err="1"/>
              <a:t>df</a:t>
            </a:r>
            <a:r>
              <a:rPr lang="en-IN" dirty="0"/>
              <a:t>["Appliances"], label="Consumption" ) </a:t>
            </a:r>
          </a:p>
          <a:p>
            <a:endParaRPr lang="en-IN" dirty="0"/>
          </a:p>
          <a:p>
            <a:r>
              <a:rPr lang="en-IN" dirty="0" err="1"/>
              <a:t>plt.scatter</a:t>
            </a:r>
            <a:r>
              <a:rPr lang="en-IN" dirty="0"/>
              <a:t>( anomalies["</a:t>
            </a:r>
            <a:r>
              <a:rPr lang="en-IN" dirty="0" err="1"/>
              <a:t>DateTime</a:t>
            </a:r>
            <a:r>
              <a:rPr lang="en-IN" dirty="0"/>
              <a:t>"], anomalies["Appliances"], label="Anomaly" ) </a:t>
            </a:r>
          </a:p>
          <a:p>
            <a:endParaRPr lang="en-IN" dirty="0"/>
          </a:p>
          <a:p>
            <a:r>
              <a:rPr lang="en-IN" dirty="0" err="1"/>
              <a:t>plt.xlabel</a:t>
            </a:r>
            <a:r>
              <a:rPr lang="en-IN" dirty="0"/>
              <a:t>("Time") </a:t>
            </a:r>
          </a:p>
          <a:p>
            <a:endParaRPr lang="en-IN" dirty="0"/>
          </a:p>
          <a:p>
            <a:r>
              <a:rPr lang="en-IN" dirty="0" err="1"/>
              <a:t>plt.ylabel</a:t>
            </a:r>
            <a:r>
              <a:rPr lang="en-IN" dirty="0"/>
              <a:t>("Consumption") </a:t>
            </a:r>
          </a:p>
          <a:p>
            <a:endParaRPr lang="en-IN" dirty="0"/>
          </a:p>
          <a:p>
            <a:r>
              <a:rPr lang="en-IN" dirty="0" err="1"/>
              <a:t>plt.title</a:t>
            </a:r>
            <a:r>
              <a:rPr lang="en-IN" dirty="0"/>
              <a:t>( "Energy Consumption with Potential Anomalies" ) </a:t>
            </a:r>
          </a:p>
          <a:p>
            <a:endParaRPr lang="en-IN" dirty="0"/>
          </a:p>
          <a:p>
            <a:r>
              <a:rPr lang="en-IN" dirty="0" err="1"/>
              <a:t>plt.legend</a:t>
            </a:r>
            <a:r>
              <a:rPr lang="en-IN" dirty="0"/>
              <a:t>() </a:t>
            </a:r>
            <a:r>
              <a:rPr lang="en-IN" dirty="0" err="1"/>
              <a:t>plt.xticks</a:t>
            </a:r>
            <a:r>
              <a:rPr lang="en-IN" dirty="0"/>
              <a:t>(rotation=45) </a:t>
            </a:r>
            <a:r>
              <a:rPr lang="en-IN" dirty="0" err="1"/>
              <a:t>plt.tight_layout</a:t>
            </a:r>
            <a:r>
              <a:rPr lang="en-IN" dirty="0"/>
              <a:t>() </a:t>
            </a:r>
            <a:r>
              <a:rPr lang="en-IN" dirty="0" err="1"/>
              <a:t>plt.show</a:t>
            </a:r>
            <a:r>
              <a:rPr lang="en-IN" dirty="0"/>
              <a:t>()</a:t>
            </a:r>
            <a:endParaRPr lang="en-US" dirty="0"/>
          </a:p>
        </p:txBody>
      </p:sp>
    </p:spTree>
    <p:extLst>
      <p:ext uri="{BB962C8B-B14F-4D97-AF65-F5344CB8AC3E}">
        <p14:creationId xmlns:p14="http://schemas.microsoft.com/office/powerpoint/2010/main" val="3617923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1DE63-84E5-CEC8-8949-B569557AC08C}"/>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CF203521-EC26-0186-4609-EAA0DF1699B9}"/>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6" name="Picture 2" descr="C:\Users\My\Desktop\Capture 1.PNG">
            <a:extLst>
              <a:ext uri="{FF2B5EF4-FFF2-40B4-BE49-F238E27FC236}">
                <a16:creationId xmlns:a16="http://schemas.microsoft.com/office/drawing/2014/main" id="{CEE206BA-E8BA-B264-525D-4D0CAB7FF36F}"/>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pic>
        <p:nvPicPr>
          <p:cNvPr id="7" name="Picture 6">
            <a:extLst>
              <a:ext uri="{FF2B5EF4-FFF2-40B4-BE49-F238E27FC236}">
                <a16:creationId xmlns:a16="http://schemas.microsoft.com/office/drawing/2014/main" id="{DAE4C053-A4CC-B28B-B4FF-FBD2513DA7F4}"/>
              </a:ext>
            </a:extLst>
          </p:cNvPr>
          <p:cNvPicPr>
            <a:picLocks noChangeAspect="1"/>
          </p:cNvPicPr>
          <p:nvPr/>
        </p:nvPicPr>
        <p:blipFill>
          <a:blip r:embed="rId3"/>
          <a:stretch>
            <a:fillRect/>
          </a:stretch>
        </p:blipFill>
        <p:spPr>
          <a:xfrm>
            <a:off x="152400" y="1371600"/>
            <a:ext cx="5505632" cy="3984538"/>
          </a:xfrm>
          <a:prstGeom prst="rect">
            <a:avLst/>
          </a:prstGeom>
        </p:spPr>
      </p:pic>
      <p:pic>
        <p:nvPicPr>
          <p:cNvPr id="8" name="Picture 7">
            <a:extLst>
              <a:ext uri="{FF2B5EF4-FFF2-40B4-BE49-F238E27FC236}">
                <a16:creationId xmlns:a16="http://schemas.microsoft.com/office/drawing/2014/main" id="{D28A037D-2ABF-BBFB-6387-189C1CFF1E36}"/>
              </a:ext>
            </a:extLst>
          </p:cNvPr>
          <p:cNvPicPr>
            <a:picLocks noChangeAspect="1"/>
          </p:cNvPicPr>
          <p:nvPr/>
        </p:nvPicPr>
        <p:blipFill>
          <a:blip r:embed="rId4"/>
          <a:stretch>
            <a:fillRect/>
          </a:stretch>
        </p:blipFill>
        <p:spPr>
          <a:xfrm>
            <a:off x="5334000" y="487536"/>
            <a:ext cx="6705600" cy="5499829"/>
          </a:xfrm>
          <a:prstGeom prst="rect">
            <a:avLst/>
          </a:prstGeom>
        </p:spPr>
      </p:pic>
    </p:spTree>
    <p:extLst>
      <p:ext uri="{BB962C8B-B14F-4D97-AF65-F5344CB8AC3E}">
        <p14:creationId xmlns:p14="http://schemas.microsoft.com/office/powerpoint/2010/main" val="92995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1DE63-84E5-CEC8-8949-B569557AC08C}"/>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CF203521-EC26-0186-4609-EAA0DF1699B9}"/>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6" name="Picture 2" descr="C:\Users\My\Desktop\Capture 1.PNG">
            <a:extLst>
              <a:ext uri="{FF2B5EF4-FFF2-40B4-BE49-F238E27FC236}">
                <a16:creationId xmlns:a16="http://schemas.microsoft.com/office/drawing/2014/main" id="{CEE206BA-E8BA-B264-525D-4D0CAB7FF36F}"/>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grpSp>
        <p:nvGrpSpPr>
          <p:cNvPr id="2" name="Group 1">
            <a:extLst>
              <a:ext uri="{FF2B5EF4-FFF2-40B4-BE49-F238E27FC236}">
                <a16:creationId xmlns:a16="http://schemas.microsoft.com/office/drawing/2014/main" id="{4B3644A6-8712-BEC9-A570-128F5D5DD081}"/>
              </a:ext>
            </a:extLst>
          </p:cNvPr>
          <p:cNvGrpSpPr/>
          <p:nvPr/>
        </p:nvGrpSpPr>
        <p:grpSpPr>
          <a:xfrm>
            <a:off x="3698917" y="0"/>
            <a:ext cx="5063067" cy="1264470"/>
            <a:chOff x="13004829" y="1407596"/>
            <a:chExt cx="6141489" cy="1909355"/>
          </a:xfrm>
        </p:grpSpPr>
        <p:grpSp>
          <p:nvGrpSpPr>
            <p:cNvPr id="3" name="Group 2">
              <a:extLst>
                <a:ext uri="{FF2B5EF4-FFF2-40B4-BE49-F238E27FC236}">
                  <a16:creationId xmlns:a16="http://schemas.microsoft.com/office/drawing/2014/main" id="{10F1E1CA-14D0-9962-BECA-6E5EA508592B}"/>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9A3475D4-6632-70D4-6840-169A7DD6B89C}"/>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52041E3E-5E20-8CC5-11D7-AC19C8517771}"/>
                  </a:ext>
                </a:extLst>
              </p:cNvPr>
              <p:cNvSpPr/>
              <p:nvPr/>
            </p:nvSpPr>
            <p:spPr>
              <a:xfrm>
                <a:off x="4861035" y="892513"/>
                <a:ext cx="3065989" cy="40569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grpSp>
        <p:sp>
          <p:nvSpPr>
            <p:cNvPr id="9" name="Rectangle 8">
              <a:extLst>
                <a:ext uri="{FF2B5EF4-FFF2-40B4-BE49-F238E27FC236}">
                  <a16:creationId xmlns:a16="http://schemas.microsoft.com/office/drawing/2014/main" id="{7073ED80-1386-C7DD-FF56-59604D74E88A}"/>
                </a:ext>
              </a:extLst>
            </p:cNvPr>
            <p:cNvSpPr/>
            <p:nvPr/>
          </p:nvSpPr>
          <p:spPr>
            <a:xfrm>
              <a:off x="13510987" y="1520926"/>
              <a:ext cx="5635331" cy="912455"/>
            </a:xfrm>
            <a:prstGeom prst="rect">
              <a:avLst/>
            </a:prstGeom>
          </p:spPr>
          <p:txBody>
            <a:bodyPr wrap="square">
              <a:spAutoFit/>
            </a:bodyPr>
            <a:lstStyle/>
            <a:p>
              <a:pPr marL="0" marR="0" lvl="0" indent="0" algn="l" defTabSz="1033272" rtl="0" eaLnBrk="1" fontAlgn="auto" latinLnBrk="0" hangingPunct="1">
                <a:lnSpc>
                  <a:spcPct val="150000"/>
                </a:lnSpc>
                <a:spcBef>
                  <a:spcPts val="0"/>
                </a:spcBef>
                <a:spcAft>
                  <a:spcPts val="600"/>
                </a:spcAft>
                <a:buClrTx/>
                <a:buSzTx/>
                <a:buFontTx/>
                <a:buNone/>
                <a:tabLst/>
                <a:defRPr/>
              </a:pPr>
              <a:r>
                <a:rPr kumimoji="0" lang="en-US" sz="2712"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rPr>
                <a:t>DATA VISUALIZATION</a:t>
              </a:r>
              <a:endPar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endParaRPr>
            </a:p>
          </p:txBody>
        </p:sp>
      </p:grpSp>
      <p:sp>
        <p:nvSpPr>
          <p:cNvPr id="12" name="TextBox 11">
            <a:extLst>
              <a:ext uri="{FF2B5EF4-FFF2-40B4-BE49-F238E27FC236}">
                <a16:creationId xmlns:a16="http://schemas.microsoft.com/office/drawing/2014/main" id="{91EFBD33-73F4-367F-5597-190EFCBDF86A}"/>
              </a:ext>
            </a:extLst>
          </p:cNvPr>
          <p:cNvSpPr txBox="1"/>
          <p:nvPr/>
        </p:nvSpPr>
        <p:spPr>
          <a:xfrm>
            <a:off x="953415" y="1178921"/>
            <a:ext cx="10439400" cy="5262979"/>
          </a:xfrm>
          <a:prstGeom prst="rect">
            <a:avLst/>
          </a:prstGeom>
          <a:noFill/>
        </p:spPr>
        <p:txBody>
          <a:bodyPr wrap="square">
            <a:spAutoFit/>
          </a:bodyPr>
          <a:lstStyle/>
          <a:p>
            <a:pPr marL="285750" lvl="0" indent="-285750">
              <a:buFont typeface="Arial" panose="020B0604020202020204" pitchFamily="34" charset="0"/>
              <a:buChar char="•"/>
            </a:pPr>
            <a:r>
              <a:rPr lang="en-IN" sz="2400" dirty="0"/>
              <a:t>After cleaning and analysing the dataset, we use visualization to present the results clearly. </a:t>
            </a:r>
          </a:p>
          <a:p>
            <a:pPr marL="285750" lvl="0" indent="-285750">
              <a:buFont typeface="Arial" panose="020B0604020202020204" pitchFamily="34" charset="0"/>
              <a:buChar char="•"/>
            </a:pPr>
            <a:r>
              <a:rPr lang="en-IN" sz="2400" dirty="0"/>
              <a:t>Charts and graphs make numerical data easier to understand and compare. </a:t>
            </a:r>
          </a:p>
          <a:p>
            <a:pPr marL="285750" lvl="0" indent="-285750">
              <a:buFont typeface="Arial" panose="020B0604020202020204" pitchFamily="34" charset="0"/>
              <a:buChar char="•"/>
            </a:pPr>
            <a:r>
              <a:rPr lang="en-IN" sz="2400" dirty="0"/>
              <a:t>The bar chart is used to compare ratings between different restaurants. </a:t>
            </a:r>
          </a:p>
          <a:p>
            <a:pPr marL="285750" lvl="0" indent="-285750">
              <a:buFont typeface="Arial" panose="020B0604020202020204" pitchFamily="34" charset="0"/>
              <a:buChar char="•"/>
            </a:pPr>
            <a:r>
              <a:rPr lang="en-IN" sz="2400" dirty="0"/>
              <a:t>The pie chart shows the distribution of Positive, Neutral, and Negative customer feedback. </a:t>
            </a:r>
          </a:p>
          <a:p>
            <a:pPr marL="285750" lvl="0" indent="-285750">
              <a:buFont typeface="Arial" panose="020B0604020202020204" pitchFamily="34" charset="0"/>
              <a:buChar char="•"/>
            </a:pPr>
            <a:r>
              <a:rPr lang="en-IN" sz="2400" dirty="0"/>
              <a:t>The box plot compares the distribution of Overall Ratings across feedback categories. </a:t>
            </a:r>
          </a:p>
          <a:p>
            <a:pPr marL="285750" lvl="0" indent="-285750">
              <a:buFont typeface="Arial" panose="020B0604020202020204" pitchFamily="34" charset="0"/>
              <a:buChar char="•"/>
            </a:pPr>
            <a:r>
              <a:rPr lang="en-IN" sz="2400" dirty="0"/>
              <a:t>The histogram shows the distribution and frequency of Food Ratings. </a:t>
            </a:r>
          </a:p>
          <a:p>
            <a:pPr marL="285750" lvl="0" indent="-285750">
              <a:buFont typeface="Arial" panose="020B0604020202020204" pitchFamily="34" charset="0"/>
              <a:buChar char="•"/>
            </a:pPr>
            <a:r>
              <a:rPr lang="en-IN" sz="2400" dirty="0"/>
              <a:t>The line chart shows the variation in Food Rating and Service Rating across the records. </a:t>
            </a:r>
          </a:p>
          <a:p>
            <a:pPr marL="285750" lvl="0" indent="-285750">
              <a:buFont typeface="Arial" panose="020B0604020202020204" pitchFamily="34" charset="0"/>
              <a:buChar char="•"/>
            </a:pPr>
            <a:r>
              <a:rPr lang="en-IN" sz="2400" dirty="0"/>
              <a:t>The scatter plot shows the relationship between Food Rating and Overall Rating. </a:t>
            </a:r>
          </a:p>
          <a:p>
            <a:pPr marL="285750" lvl="0" indent="-285750">
              <a:buFont typeface="Arial" panose="020B0604020202020204" pitchFamily="34" charset="0"/>
              <a:buChar char="•"/>
            </a:pPr>
            <a:r>
              <a:rPr lang="en-IN" sz="2400" dirty="0"/>
              <a:t>These visualizations help us identify patterns, differences, trends, and relationships in the dataset. </a:t>
            </a:r>
          </a:p>
        </p:txBody>
      </p:sp>
    </p:spTree>
    <p:extLst>
      <p:ext uri="{BB962C8B-B14F-4D97-AF65-F5344CB8AC3E}">
        <p14:creationId xmlns:p14="http://schemas.microsoft.com/office/powerpoint/2010/main" val="1759221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4E35B6-6C3A-A079-14E9-900C26CAB93D}"/>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a:extLst>
              <a:ext uri="{FF2B5EF4-FFF2-40B4-BE49-F238E27FC236}">
                <a16:creationId xmlns:a16="http://schemas.microsoft.com/office/drawing/2014/main" id="{EBDBB65F-8C77-1567-A711-167B203231C4}"/>
              </a:ext>
            </a:extLst>
          </p:cNvPr>
          <p:cNvSpPr>
            <a:spLocks noGrp="1"/>
          </p:cNvSpPr>
          <p:nvPr>
            <p:ph type="sldNum" sz="quarter" idx="12"/>
          </p:nvPr>
        </p:nvSpPr>
        <p:spPr>
          <a:xfrm>
            <a:off x="7010399" y="961326"/>
            <a:ext cx="5105400" cy="5426213"/>
          </a:xfrm>
        </p:spPr>
        <p:txBody>
          <a:bodyPr/>
          <a:lstStyle/>
          <a:p>
            <a:pPr algn="l"/>
            <a:r>
              <a:rPr lang="en-US" sz="2000" dirty="0">
                <a:solidFill>
                  <a:schemeClr val="tx1">
                    <a:lumMod val="95000"/>
                    <a:lumOff val="5000"/>
                  </a:schemeClr>
                </a:solidFill>
              </a:rPr>
              <a:t>• </a:t>
            </a:r>
            <a:r>
              <a:rPr lang="en-US" sz="1800" dirty="0">
                <a:solidFill>
                  <a:schemeClr val="tx1">
                    <a:lumMod val="95000"/>
                    <a:lumOff val="5000"/>
                  </a:schemeClr>
                </a:solidFill>
              </a:rPr>
              <a:t>The bar chart represents the daily average energy consumption of household appliances.</a:t>
            </a:r>
          </a:p>
          <a:p>
            <a:pPr algn="l"/>
            <a:endParaRPr lang="en-US" sz="1800" dirty="0">
              <a:solidFill>
                <a:schemeClr val="tx1">
                  <a:lumMod val="95000"/>
                  <a:lumOff val="5000"/>
                </a:schemeClr>
              </a:solidFill>
            </a:endParaRPr>
          </a:p>
          <a:p>
            <a:pPr algn="l"/>
            <a:r>
              <a:rPr lang="en-US" sz="1800" dirty="0">
                <a:solidFill>
                  <a:schemeClr val="tx1">
                    <a:lumMod val="95000"/>
                    <a:lumOff val="5000"/>
                  </a:schemeClr>
                </a:solidFill>
              </a:rPr>
              <a:t>• It shows the average energy consumption for the first 30 days in the dataset.</a:t>
            </a:r>
          </a:p>
          <a:p>
            <a:pPr algn="l"/>
            <a:endParaRPr lang="en-US" sz="1800" dirty="0">
              <a:solidFill>
                <a:schemeClr val="tx1">
                  <a:lumMod val="95000"/>
                  <a:lumOff val="5000"/>
                </a:schemeClr>
              </a:solidFill>
            </a:endParaRPr>
          </a:p>
          <a:p>
            <a:pPr algn="l"/>
            <a:r>
              <a:rPr lang="en-US" sz="1800" dirty="0">
                <a:solidFill>
                  <a:schemeClr val="tx1">
                    <a:lumMod val="95000"/>
                    <a:lumOff val="5000"/>
                  </a:schemeClr>
                </a:solidFill>
              </a:rPr>
              <a:t>• Each bar represents the average appliance energy reading for a particular day.</a:t>
            </a:r>
          </a:p>
          <a:p>
            <a:pPr algn="l"/>
            <a:endParaRPr lang="en-US" sz="1800" dirty="0">
              <a:solidFill>
                <a:schemeClr val="tx1">
                  <a:lumMod val="95000"/>
                  <a:lumOff val="5000"/>
                </a:schemeClr>
              </a:solidFill>
            </a:endParaRPr>
          </a:p>
          <a:p>
            <a:pPr algn="l"/>
            <a:r>
              <a:rPr lang="en-US" sz="1800" dirty="0">
                <a:solidFill>
                  <a:schemeClr val="tx1">
                    <a:lumMod val="95000"/>
                    <a:lumOff val="5000"/>
                  </a:schemeClr>
                </a:solidFill>
              </a:rPr>
              <a:t>• A taller bar indicates higher average energy consumption, while a shorter bar indicates lower consumption.</a:t>
            </a:r>
          </a:p>
          <a:p>
            <a:pPr algn="l"/>
            <a:endParaRPr lang="en-US" sz="1800" dirty="0">
              <a:solidFill>
                <a:schemeClr val="tx1">
                  <a:lumMod val="95000"/>
                  <a:lumOff val="5000"/>
                </a:schemeClr>
              </a:solidFill>
            </a:endParaRPr>
          </a:p>
          <a:p>
            <a:pPr algn="l"/>
            <a:r>
              <a:rPr lang="en-US" sz="1800" dirty="0">
                <a:solidFill>
                  <a:schemeClr val="tx1">
                    <a:lumMod val="95000"/>
                    <a:lumOff val="5000"/>
                  </a:schemeClr>
                </a:solidFill>
              </a:rPr>
              <a:t>• The chart makes it easy to compare daily energy consumption over time.</a:t>
            </a:r>
          </a:p>
          <a:p>
            <a:pPr algn="l"/>
            <a:endParaRPr lang="en-US" sz="1800" dirty="0">
              <a:solidFill>
                <a:schemeClr val="tx1">
                  <a:lumMod val="95000"/>
                  <a:lumOff val="5000"/>
                </a:schemeClr>
              </a:solidFill>
            </a:endParaRPr>
          </a:p>
          <a:p>
            <a:pPr algn="l"/>
            <a:r>
              <a:rPr lang="en-US" sz="1800" dirty="0">
                <a:solidFill>
                  <a:schemeClr val="tx1">
                    <a:lumMod val="95000"/>
                    <a:lumOff val="5000"/>
                  </a:schemeClr>
                </a:solidFill>
              </a:rPr>
              <a:t>• It helps understand household energy usage patterns and identify variations in daily appliance consumption</a:t>
            </a:r>
            <a:r>
              <a:rPr lang="en-US" sz="1800" dirty="0"/>
              <a:t>.</a:t>
            </a:r>
          </a:p>
          <a:p>
            <a:endParaRPr lang="en-US" dirty="0"/>
          </a:p>
        </p:txBody>
      </p:sp>
      <p:pic>
        <p:nvPicPr>
          <p:cNvPr id="6" name="Picture 2" descr="C:\Users\My\Desktop\Capture 1.PNG">
            <a:extLst>
              <a:ext uri="{FF2B5EF4-FFF2-40B4-BE49-F238E27FC236}">
                <a16:creationId xmlns:a16="http://schemas.microsoft.com/office/drawing/2014/main" id="{DF8390AA-DE72-6B21-E733-40F28F11C657}"/>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pic>
        <p:nvPicPr>
          <p:cNvPr id="3" name="Picture 2">
            <a:extLst>
              <a:ext uri="{FF2B5EF4-FFF2-40B4-BE49-F238E27FC236}">
                <a16:creationId xmlns:a16="http://schemas.microsoft.com/office/drawing/2014/main" id="{63BB518B-8994-3D02-26EB-2511526E6E87}"/>
              </a:ext>
            </a:extLst>
          </p:cNvPr>
          <p:cNvPicPr>
            <a:picLocks noChangeAspect="1"/>
          </p:cNvPicPr>
          <p:nvPr/>
        </p:nvPicPr>
        <p:blipFill>
          <a:blip r:embed="rId3"/>
          <a:stretch>
            <a:fillRect/>
          </a:stretch>
        </p:blipFill>
        <p:spPr>
          <a:xfrm>
            <a:off x="25400" y="3294951"/>
            <a:ext cx="6858000" cy="3061400"/>
          </a:xfrm>
          <a:prstGeom prst="rect">
            <a:avLst/>
          </a:prstGeom>
        </p:spPr>
      </p:pic>
      <p:pic>
        <p:nvPicPr>
          <p:cNvPr id="10" name="Picture 9">
            <a:extLst>
              <a:ext uri="{FF2B5EF4-FFF2-40B4-BE49-F238E27FC236}">
                <a16:creationId xmlns:a16="http://schemas.microsoft.com/office/drawing/2014/main" id="{9E180E4D-BC29-C237-CE41-1CADBF7B6E30}"/>
              </a:ext>
            </a:extLst>
          </p:cNvPr>
          <p:cNvPicPr>
            <a:picLocks noChangeAspect="1"/>
          </p:cNvPicPr>
          <p:nvPr/>
        </p:nvPicPr>
        <p:blipFill>
          <a:blip r:embed="rId4"/>
          <a:stretch>
            <a:fillRect/>
          </a:stretch>
        </p:blipFill>
        <p:spPr>
          <a:xfrm>
            <a:off x="76201" y="961326"/>
            <a:ext cx="6629400" cy="1968500"/>
          </a:xfrm>
          <a:prstGeom prst="rect">
            <a:avLst/>
          </a:prstGeom>
        </p:spPr>
      </p:pic>
      <p:sp>
        <p:nvSpPr>
          <p:cNvPr id="11" name="object 4">
            <a:extLst>
              <a:ext uri="{FF2B5EF4-FFF2-40B4-BE49-F238E27FC236}">
                <a16:creationId xmlns:a16="http://schemas.microsoft.com/office/drawing/2014/main" id="{7F729639-405D-5572-836E-567718ABB4C1}"/>
              </a:ext>
            </a:extLst>
          </p:cNvPr>
          <p:cNvSpPr/>
          <p:nvPr/>
        </p:nvSpPr>
        <p:spPr>
          <a:xfrm>
            <a:off x="3581400" y="249752"/>
            <a:ext cx="4738048" cy="537822"/>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54451DD-7836-A519-AE0F-0C0727C9ADAD}"/>
              </a:ext>
            </a:extLst>
          </p:cNvPr>
          <p:cNvSpPr/>
          <p:nvPr/>
        </p:nvSpPr>
        <p:spPr>
          <a:xfrm>
            <a:off x="4953000" y="185156"/>
            <a:ext cx="4855548" cy="590226"/>
          </a:xfrm>
          <a:prstGeom prst="rect">
            <a:avLst/>
          </a:prstGeom>
        </p:spPr>
        <p:txBody>
          <a:bodyPr wrap="square">
            <a:spAutoFit/>
          </a:bodyPr>
          <a:lstStyle/>
          <a:p>
            <a:pPr defTabSz="1033272">
              <a:lnSpc>
                <a:spcPct val="150000"/>
              </a:lnSpc>
              <a:spcAft>
                <a:spcPts val="600"/>
              </a:spcAft>
              <a:defRPr/>
            </a:pPr>
            <a:r>
              <a:rPr lang="en-US" sz="2400" b="1" kern="0" dirty="0">
                <a:solidFill>
                  <a:prstClr val="white"/>
                </a:solidFill>
                <a:effectLst>
                  <a:outerShdw blurRad="38100" dist="38100" dir="2700000" algn="tl">
                    <a:srgbClr val="000000">
                      <a:alpha val="43137"/>
                    </a:srgbClr>
                  </a:outerShdw>
                </a:effectLst>
                <a:latin typeface="Book Antiqua" panose="02040602050305030304" pitchFamily="18" charset="0"/>
                <a:ea typeface="Verdana" panose="020B0604030504040204" pitchFamily="34" charset="0"/>
                <a:cs typeface="Arial Unicode MS" panose="020B0604020202020204" pitchFamily="34" charset="-128"/>
              </a:rPr>
              <a:t>BAR CHART</a:t>
            </a:r>
            <a:endPar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endParaRPr>
          </a:p>
        </p:txBody>
      </p:sp>
    </p:spTree>
    <p:extLst>
      <p:ext uri="{BB962C8B-B14F-4D97-AF65-F5344CB8AC3E}">
        <p14:creationId xmlns:p14="http://schemas.microsoft.com/office/powerpoint/2010/main" val="3519163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4E35B6-6C3A-A079-14E9-900C26CAB93D}"/>
              </a:ext>
            </a:extLst>
          </p:cNvPr>
          <p:cNvSpPr>
            <a:spLocks noGrp="1"/>
          </p:cNvSpPr>
          <p:nvPr>
            <p:ph type="dt" sz="half" idx="10"/>
          </p:nvPr>
        </p:nvSpPr>
        <p:spPr/>
        <p:txBody>
          <a:bodyPr/>
          <a:lstStyle/>
          <a:p>
            <a:fld id="{8187603C-9C71-4375-9B9C-07CB8A3E7A57}" type="datetime3">
              <a:rPr lang="en-US" smtClean="0"/>
              <a:t>1 October 2026</a:t>
            </a:fld>
            <a:endParaRPr lang="en-US"/>
          </a:p>
        </p:txBody>
      </p:sp>
      <p:pic>
        <p:nvPicPr>
          <p:cNvPr id="6" name="Picture 2" descr="C:\Users\My\Desktop\Capture 1.PNG">
            <a:extLst>
              <a:ext uri="{FF2B5EF4-FFF2-40B4-BE49-F238E27FC236}">
                <a16:creationId xmlns:a16="http://schemas.microsoft.com/office/drawing/2014/main" id="{DF8390AA-DE72-6B21-E733-40F28F11C657}"/>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
        <p:nvSpPr>
          <p:cNvPr id="11" name="object 4">
            <a:extLst>
              <a:ext uri="{FF2B5EF4-FFF2-40B4-BE49-F238E27FC236}">
                <a16:creationId xmlns:a16="http://schemas.microsoft.com/office/drawing/2014/main" id="{7F729639-405D-5572-836E-567718ABB4C1}"/>
              </a:ext>
            </a:extLst>
          </p:cNvPr>
          <p:cNvSpPr/>
          <p:nvPr/>
        </p:nvSpPr>
        <p:spPr>
          <a:xfrm>
            <a:off x="3657600" y="259277"/>
            <a:ext cx="4738048" cy="537822"/>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54451DD-7836-A519-AE0F-0C0727C9ADAD}"/>
              </a:ext>
            </a:extLst>
          </p:cNvPr>
          <p:cNvSpPr/>
          <p:nvPr/>
        </p:nvSpPr>
        <p:spPr>
          <a:xfrm>
            <a:off x="4953000" y="185156"/>
            <a:ext cx="4855548" cy="590226"/>
          </a:xfrm>
          <a:prstGeom prst="rect">
            <a:avLst/>
          </a:prstGeom>
        </p:spPr>
        <p:txBody>
          <a:bodyPr wrap="square">
            <a:spAutoFit/>
          </a:bodyPr>
          <a:lstStyle/>
          <a:p>
            <a:pPr defTabSz="1033272">
              <a:lnSpc>
                <a:spcPct val="150000"/>
              </a:lnSpc>
              <a:spcAft>
                <a:spcPts val="600"/>
              </a:spcAft>
              <a:defRPr/>
            </a:pPr>
            <a:r>
              <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rPr>
              <a:t>Line Chart </a:t>
            </a:r>
          </a:p>
        </p:txBody>
      </p:sp>
      <p:sp>
        <p:nvSpPr>
          <p:cNvPr id="3" name="Rectangle 1">
            <a:extLst>
              <a:ext uri="{FF2B5EF4-FFF2-40B4-BE49-F238E27FC236}">
                <a16:creationId xmlns:a16="http://schemas.microsoft.com/office/drawing/2014/main" id="{EF89419C-E21F-D795-F8C5-8D316FEF51E2}"/>
              </a:ext>
            </a:extLst>
          </p:cNvPr>
          <p:cNvSpPr>
            <a:spLocks noGrp="1" noChangeArrowheads="1"/>
          </p:cNvSpPr>
          <p:nvPr>
            <p:ph type="sldNum" sz="quarter" idx="12"/>
          </p:nvPr>
        </p:nvSpPr>
        <p:spPr bwMode="auto">
          <a:xfrm>
            <a:off x="6858000" y="1066800"/>
            <a:ext cx="519588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blue line represents household appliance energy consumption over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orange line highlights potential anomalies where energy consumption exceeds the calculated threshold.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X-axis represents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Y-axis represents energy consumption in </a:t>
            </a:r>
            <a:r>
              <a:rPr kumimoji="0" lang="en-US" altLang="en-US" sz="1800" b="0" i="0" u="none" strike="noStrike" cap="none" normalizeH="0" baseline="0" dirty="0" err="1">
                <a:ln>
                  <a:noFill/>
                </a:ln>
                <a:solidFill>
                  <a:schemeClr val="tx1"/>
                </a:solidFill>
                <a:effectLst/>
                <a:latin typeface="Arial" panose="020B0604020202020204" pitchFamily="34" charset="0"/>
              </a:rPr>
              <a:t>Wh</a:t>
            </a:r>
            <a:r>
              <a:rPr kumimoji="0" lang="en-US" altLang="en-US" sz="1800" b="0" i="0" u="none" strike="noStrike" cap="none" normalizeH="0" baseline="0" dirty="0">
                <a:ln>
                  <a:noFill/>
                </a:ln>
                <a:solidFill>
                  <a:schemeClr val="tx1"/>
                </a:solidFill>
                <a:effectLst/>
                <a:latin typeface="Arial" panose="020B0604020202020204" pitchFamily="34" charset="0"/>
              </a:rPr>
              <a:t>, according to your chart label.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chart helps identify unusual spikes in energy consumption that may require further investigation.</a:t>
            </a:r>
          </a:p>
        </p:txBody>
      </p:sp>
      <p:pic>
        <p:nvPicPr>
          <p:cNvPr id="8" name="Picture 7">
            <a:extLst>
              <a:ext uri="{FF2B5EF4-FFF2-40B4-BE49-F238E27FC236}">
                <a16:creationId xmlns:a16="http://schemas.microsoft.com/office/drawing/2014/main" id="{01D3816E-3B6F-9D52-FD55-AEFE0DA599F8}"/>
              </a:ext>
            </a:extLst>
          </p:cNvPr>
          <p:cNvPicPr>
            <a:picLocks noChangeAspect="1"/>
          </p:cNvPicPr>
          <p:nvPr/>
        </p:nvPicPr>
        <p:blipFill>
          <a:blip r:embed="rId4"/>
          <a:stretch>
            <a:fillRect/>
          </a:stretch>
        </p:blipFill>
        <p:spPr>
          <a:xfrm>
            <a:off x="128587" y="2758671"/>
            <a:ext cx="6738938" cy="3849577"/>
          </a:xfrm>
          <a:prstGeom prst="rect">
            <a:avLst/>
          </a:prstGeom>
        </p:spPr>
      </p:pic>
      <p:pic>
        <p:nvPicPr>
          <p:cNvPr id="13" name="Picture 12">
            <a:extLst>
              <a:ext uri="{FF2B5EF4-FFF2-40B4-BE49-F238E27FC236}">
                <a16:creationId xmlns:a16="http://schemas.microsoft.com/office/drawing/2014/main" id="{0B418FF6-14BE-FF05-A6AE-AD4067A1D4EF}"/>
              </a:ext>
            </a:extLst>
          </p:cNvPr>
          <p:cNvPicPr>
            <a:picLocks noChangeAspect="1"/>
          </p:cNvPicPr>
          <p:nvPr/>
        </p:nvPicPr>
        <p:blipFill>
          <a:blip r:embed="rId5"/>
          <a:stretch>
            <a:fillRect/>
          </a:stretch>
        </p:blipFill>
        <p:spPr>
          <a:xfrm>
            <a:off x="128587" y="925917"/>
            <a:ext cx="6640387" cy="1811038"/>
          </a:xfrm>
          <a:prstGeom prst="rect">
            <a:avLst/>
          </a:prstGeom>
        </p:spPr>
      </p:pic>
    </p:spTree>
    <p:extLst>
      <p:ext uri="{BB962C8B-B14F-4D97-AF65-F5344CB8AC3E}">
        <p14:creationId xmlns:p14="http://schemas.microsoft.com/office/powerpoint/2010/main" val="707897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4E35B6-6C3A-A079-14E9-900C26CAB93D}"/>
              </a:ext>
            </a:extLst>
          </p:cNvPr>
          <p:cNvSpPr>
            <a:spLocks noGrp="1"/>
          </p:cNvSpPr>
          <p:nvPr>
            <p:ph type="dt" sz="half" idx="10"/>
          </p:nvPr>
        </p:nvSpPr>
        <p:spPr/>
        <p:txBody>
          <a:bodyPr/>
          <a:lstStyle/>
          <a:p>
            <a:fld id="{8187603C-9C71-4375-9B9C-07CB8A3E7A57}" type="datetime3">
              <a:rPr lang="en-US" smtClean="0"/>
              <a:t>1 October 2026</a:t>
            </a:fld>
            <a:endParaRPr lang="en-US"/>
          </a:p>
        </p:txBody>
      </p:sp>
      <p:sp>
        <p:nvSpPr>
          <p:cNvPr id="5" name="Slide Number Placeholder 4" descr="s">
            <a:extLst>
              <a:ext uri="{FF2B5EF4-FFF2-40B4-BE49-F238E27FC236}">
                <a16:creationId xmlns:a16="http://schemas.microsoft.com/office/drawing/2014/main" id="{EBDBB65F-8C77-1567-A711-167B203231C4}"/>
              </a:ext>
            </a:extLst>
          </p:cNvPr>
          <p:cNvSpPr>
            <a:spLocks noGrp="1"/>
          </p:cNvSpPr>
          <p:nvPr>
            <p:ph type="sldNum" sz="quarter" idx="12"/>
          </p:nvPr>
        </p:nvSpPr>
        <p:spPr>
          <a:xfrm>
            <a:off x="6781800" y="914400"/>
            <a:ext cx="5410200" cy="5537639"/>
          </a:xfrm>
        </p:spPr>
        <p:txBody>
          <a:bodyPr/>
          <a:lstStyle/>
          <a:p>
            <a:pPr algn="l"/>
            <a:r>
              <a:rPr lang="en-US" sz="2000" dirty="0">
                <a:solidFill>
                  <a:schemeClr val="tx1">
                    <a:lumMod val="95000"/>
                    <a:lumOff val="5000"/>
                  </a:schemeClr>
                </a:solidFill>
              </a:rPr>
              <a:t>• The line chart represents household appliance energy consumption over time.</a:t>
            </a:r>
          </a:p>
          <a:p>
            <a:pPr algn="l"/>
            <a:endParaRPr lang="en-US" sz="2000" dirty="0">
              <a:solidFill>
                <a:schemeClr val="tx1">
                  <a:lumMod val="95000"/>
                  <a:lumOff val="5000"/>
                </a:schemeClr>
              </a:solidFill>
            </a:endParaRPr>
          </a:p>
          <a:p>
            <a:pPr algn="l"/>
            <a:r>
              <a:rPr lang="en-US" sz="2000" dirty="0">
                <a:solidFill>
                  <a:schemeClr val="tx1">
                    <a:lumMod val="95000"/>
                    <a:lumOff val="5000"/>
                  </a:schemeClr>
                </a:solidFill>
              </a:rPr>
              <a:t>• It shows the energy consumption readings and highlights potential anomalies.</a:t>
            </a:r>
          </a:p>
          <a:p>
            <a:pPr algn="l"/>
            <a:endParaRPr lang="en-US" sz="2000" dirty="0">
              <a:solidFill>
                <a:schemeClr val="tx1">
                  <a:lumMod val="95000"/>
                  <a:lumOff val="5000"/>
                </a:schemeClr>
              </a:solidFill>
            </a:endParaRPr>
          </a:p>
          <a:p>
            <a:pPr algn="l"/>
            <a:r>
              <a:rPr lang="en-US" sz="2000" dirty="0">
                <a:solidFill>
                  <a:schemeClr val="tx1">
                    <a:lumMod val="95000"/>
                    <a:lumOff val="5000"/>
                  </a:schemeClr>
                </a:solidFill>
              </a:rPr>
              <a:t>• The blue line represents the energy consumption recorded at different times.</a:t>
            </a:r>
          </a:p>
          <a:p>
            <a:pPr algn="l"/>
            <a:endParaRPr lang="en-US" sz="2000" dirty="0">
              <a:solidFill>
                <a:schemeClr val="tx1">
                  <a:lumMod val="95000"/>
                  <a:lumOff val="5000"/>
                </a:schemeClr>
              </a:solidFill>
            </a:endParaRPr>
          </a:p>
          <a:p>
            <a:pPr algn="l"/>
            <a:r>
              <a:rPr lang="en-US" sz="2000" dirty="0">
                <a:solidFill>
                  <a:schemeClr val="tx1">
                    <a:lumMod val="95000"/>
                    <a:lumOff val="5000"/>
                  </a:schemeClr>
                </a:solidFill>
              </a:rPr>
              <a:t>• The highlighted points represent potential anomalies where energy consumption exceeds the threshold.</a:t>
            </a:r>
          </a:p>
          <a:p>
            <a:pPr algn="l"/>
            <a:endParaRPr lang="en-US" sz="2000" dirty="0">
              <a:solidFill>
                <a:schemeClr val="tx1">
                  <a:lumMod val="95000"/>
                  <a:lumOff val="5000"/>
                </a:schemeClr>
              </a:solidFill>
            </a:endParaRPr>
          </a:p>
          <a:p>
            <a:pPr algn="l"/>
            <a:r>
              <a:rPr lang="en-US" sz="2000" dirty="0">
                <a:solidFill>
                  <a:schemeClr val="tx1">
                    <a:lumMod val="95000"/>
                    <a:lumOff val="5000"/>
                  </a:schemeClr>
                </a:solidFill>
              </a:rPr>
              <a:t>• The chart makes it easy to identify unusual spikes in energy consumption.</a:t>
            </a:r>
          </a:p>
          <a:p>
            <a:pPr algn="l"/>
            <a:endParaRPr lang="en-US" sz="2000" dirty="0">
              <a:solidFill>
                <a:schemeClr val="tx1">
                  <a:lumMod val="95000"/>
                  <a:lumOff val="5000"/>
                </a:schemeClr>
              </a:solidFill>
            </a:endParaRPr>
          </a:p>
          <a:p>
            <a:pPr algn="l"/>
            <a:r>
              <a:rPr lang="en-US" sz="2000" dirty="0">
                <a:solidFill>
                  <a:schemeClr val="tx1">
                    <a:lumMod val="95000"/>
                    <a:lumOff val="5000"/>
                  </a:schemeClr>
                </a:solidFill>
              </a:rPr>
              <a:t>• It helps detect abnormal energy usage patterns that may require further investigation.</a:t>
            </a:r>
          </a:p>
          <a:p>
            <a:pPr algn="l"/>
            <a:endParaRPr lang="en-US" dirty="0"/>
          </a:p>
        </p:txBody>
      </p:sp>
      <p:pic>
        <p:nvPicPr>
          <p:cNvPr id="6" name="Picture 2" descr="C:\Users\My\Desktop\Capture 1.PNG">
            <a:extLst>
              <a:ext uri="{FF2B5EF4-FFF2-40B4-BE49-F238E27FC236}">
                <a16:creationId xmlns:a16="http://schemas.microsoft.com/office/drawing/2014/main" id="{DF8390AA-DE72-6B21-E733-40F28F11C657}"/>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
        <p:nvSpPr>
          <p:cNvPr id="11" name="object 4">
            <a:extLst>
              <a:ext uri="{FF2B5EF4-FFF2-40B4-BE49-F238E27FC236}">
                <a16:creationId xmlns:a16="http://schemas.microsoft.com/office/drawing/2014/main" id="{7F729639-405D-5572-836E-567718ABB4C1}"/>
              </a:ext>
            </a:extLst>
          </p:cNvPr>
          <p:cNvSpPr/>
          <p:nvPr/>
        </p:nvSpPr>
        <p:spPr>
          <a:xfrm>
            <a:off x="3454400" y="249752"/>
            <a:ext cx="4738048" cy="537822"/>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54451DD-7836-A519-AE0F-0C0727C9ADAD}"/>
              </a:ext>
            </a:extLst>
          </p:cNvPr>
          <p:cNvSpPr/>
          <p:nvPr/>
        </p:nvSpPr>
        <p:spPr>
          <a:xfrm>
            <a:off x="4953000" y="185156"/>
            <a:ext cx="4855548" cy="1221168"/>
          </a:xfrm>
          <a:prstGeom prst="rect">
            <a:avLst/>
          </a:prstGeom>
        </p:spPr>
        <p:txBody>
          <a:bodyPr wrap="square">
            <a:spAutoFit/>
          </a:bodyPr>
          <a:lstStyle/>
          <a:p>
            <a:pPr defTabSz="1033272">
              <a:lnSpc>
                <a:spcPct val="150000"/>
              </a:lnSpc>
              <a:spcAft>
                <a:spcPts val="600"/>
              </a:spcAft>
              <a:defRPr/>
            </a:pPr>
            <a:r>
              <a:rPr lang="en-US" sz="2400" b="1" kern="0" dirty="0">
                <a:solidFill>
                  <a:prstClr val="white"/>
                </a:solidFill>
                <a:effectLst>
                  <a:outerShdw blurRad="38100" dist="38100" dir="2700000" algn="tl">
                    <a:srgbClr val="000000">
                      <a:alpha val="43137"/>
                    </a:srgbClr>
                  </a:outerShdw>
                </a:effectLst>
                <a:latin typeface="Book Antiqua" panose="02040602050305030304" pitchFamily="18" charset="0"/>
                <a:ea typeface="Verdana" panose="020B0604030504040204" pitchFamily="34" charset="0"/>
                <a:cs typeface="Arial Unicode MS" panose="020B0604020202020204" pitchFamily="34" charset="-128"/>
              </a:rPr>
              <a:t>Line Chart</a:t>
            </a:r>
          </a:p>
          <a:p>
            <a:pPr defTabSz="1033272">
              <a:lnSpc>
                <a:spcPct val="150000"/>
              </a:lnSpc>
              <a:spcAft>
                <a:spcPts val="600"/>
              </a:spcAft>
              <a:defRPr/>
            </a:pPr>
            <a:r>
              <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rPr>
              <a:t> </a:t>
            </a:r>
          </a:p>
        </p:txBody>
      </p:sp>
      <p:pic>
        <p:nvPicPr>
          <p:cNvPr id="17" name="Picture 16">
            <a:extLst>
              <a:ext uri="{FF2B5EF4-FFF2-40B4-BE49-F238E27FC236}">
                <a16:creationId xmlns:a16="http://schemas.microsoft.com/office/drawing/2014/main" id="{4022B5F5-A2DA-C659-2DAD-D8E3D29EBA1B}"/>
              </a:ext>
            </a:extLst>
          </p:cNvPr>
          <p:cNvPicPr>
            <a:picLocks noChangeAspect="1"/>
          </p:cNvPicPr>
          <p:nvPr/>
        </p:nvPicPr>
        <p:blipFill>
          <a:blip r:embed="rId4"/>
          <a:stretch>
            <a:fillRect/>
          </a:stretch>
        </p:blipFill>
        <p:spPr>
          <a:xfrm>
            <a:off x="228600" y="852170"/>
            <a:ext cx="6344680" cy="2476715"/>
          </a:xfrm>
          <a:prstGeom prst="rect">
            <a:avLst/>
          </a:prstGeom>
        </p:spPr>
      </p:pic>
      <p:pic>
        <p:nvPicPr>
          <p:cNvPr id="19" name="Picture 18">
            <a:extLst>
              <a:ext uri="{FF2B5EF4-FFF2-40B4-BE49-F238E27FC236}">
                <a16:creationId xmlns:a16="http://schemas.microsoft.com/office/drawing/2014/main" id="{D1053B63-332F-D83C-2BB2-DFFB255B4796}"/>
              </a:ext>
            </a:extLst>
          </p:cNvPr>
          <p:cNvPicPr>
            <a:picLocks noChangeAspect="1"/>
          </p:cNvPicPr>
          <p:nvPr/>
        </p:nvPicPr>
        <p:blipFill>
          <a:blip r:embed="rId5"/>
          <a:stretch>
            <a:fillRect/>
          </a:stretch>
        </p:blipFill>
        <p:spPr>
          <a:xfrm>
            <a:off x="96280" y="3393481"/>
            <a:ext cx="6477000" cy="3098393"/>
          </a:xfrm>
          <a:prstGeom prst="rect">
            <a:avLst/>
          </a:prstGeom>
        </p:spPr>
      </p:pic>
    </p:spTree>
    <p:extLst>
      <p:ext uri="{BB962C8B-B14F-4D97-AF65-F5344CB8AC3E}">
        <p14:creationId xmlns:p14="http://schemas.microsoft.com/office/powerpoint/2010/main" val="177300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4E35B6-6C3A-A079-14E9-900C26CAB93D}"/>
              </a:ext>
            </a:extLst>
          </p:cNvPr>
          <p:cNvSpPr>
            <a:spLocks noGrp="1"/>
          </p:cNvSpPr>
          <p:nvPr>
            <p:ph type="dt" sz="half" idx="10"/>
          </p:nvPr>
        </p:nvSpPr>
        <p:spPr/>
        <p:txBody>
          <a:bodyPr/>
          <a:lstStyle/>
          <a:p>
            <a:fld id="{8187603C-9C71-4375-9B9C-07CB8A3E7A57}" type="datetime3">
              <a:rPr lang="en-US" smtClean="0"/>
              <a:t>1 October 2026</a:t>
            </a:fld>
            <a:endParaRPr lang="en-US"/>
          </a:p>
        </p:txBody>
      </p:sp>
      <p:pic>
        <p:nvPicPr>
          <p:cNvPr id="6" name="Picture 2" descr="C:\Users\My\Desktop\Capture 1.PNG">
            <a:extLst>
              <a:ext uri="{FF2B5EF4-FFF2-40B4-BE49-F238E27FC236}">
                <a16:creationId xmlns:a16="http://schemas.microsoft.com/office/drawing/2014/main" id="{DF8390AA-DE72-6B21-E733-40F28F11C657}"/>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
        <p:nvSpPr>
          <p:cNvPr id="11" name="object 4">
            <a:extLst>
              <a:ext uri="{FF2B5EF4-FFF2-40B4-BE49-F238E27FC236}">
                <a16:creationId xmlns:a16="http://schemas.microsoft.com/office/drawing/2014/main" id="{7F729639-405D-5572-836E-567718ABB4C1}"/>
              </a:ext>
            </a:extLst>
          </p:cNvPr>
          <p:cNvSpPr/>
          <p:nvPr/>
        </p:nvSpPr>
        <p:spPr>
          <a:xfrm>
            <a:off x="3581400" y="249752"/>
            <a:ext cx="4738048" cy="537822"/>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54451DD-7836-A519-AE0F-0C0727C9ADAD}"/>
              </a:ext>
            </a:extLst>
          </p:cNvPr>
          <p:cNvSpPr/>
          <p:nvPr/>
        </p:nvSpPr>
        <p:spPr>
          <a:xfrm>
            <a:off x="4953000" y="185156"/>
            <a:ext cx="4855548" cy="590226"/>
          </a:xfrm>
          <a:prstGeom prst="rect">
            <a:avLst/>
          </a:prstGeom>
        </p:spPr>
        <p:txBody>
          <a:bodyPr wrap="square">
            <a:spAutoFit/>
          </a:bodyPr>
          <a:lstStyle/>
          <a:p>
            <a:pPr defTabSz="1033272">
              <a:lnSpc>
                <a:spcPct val="150000"/>
              </a:lnSpc>
              <a:spcAft>
                <a:spcPts val="600"/>
              </a:spcAft>
              <a:defRPr/>
            </a:pPr>
            <a:r>
              <a:rPr lang="en-US" sz="2400" b="1" kern="0" dirty="0">
                <a:solidFill>
                  <a:prstClr val="white"/>
                </a:solidFill>
                <a:effectLst>
                  <a:outerShdw blurRad="38100" dist="38100" dir="2700000" algn="tl">
                    <a:srgbClr val="000000">
                      <a:alpha val="43137"/>
                    </a:srgbClr>
                  </a:outerShdw>
                </a:effectLst>
                <a:latin typeface="Book Antiqua" panose="02040602050305030304" pitchFamily="18" charset="0"/>
                <a:ea typeface="Verdana" panose="020B0604030504040204" pitchFamily="34" charset="0"/>
                <a:cs typeface="Arial Unicode MS" panose="020B0604020202020204" pitchFamily="34" charset="-128"/>
              </a:rPr>
              <a:t>Histogram</a:t>
            </a:r>
            <a:r>
              <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rPr>
              <a:t> </a:t>
            </a:r>
          </a:p>
        </p:txBody>
      </p:sp>
      <p:sp>
        <p:nvSpPr>
          <p:cNvPr id="2" name="Slide Number Placeholder 1">
            <a:extLst>
              <a:ext uri="{FF2B5EF4-FFF2-40B4-BE49-F238E27FC236}">
                <a16:creationId xmlns:a16="http://schemas.microsoft.com/office/drawing/2014/main" id="{C6CBB5A4-71EC-93B8-DCDC-2DA4093A2C96}"/>
              </a:ext>
            </a:extLst>
          </p:cNvPr>
          <p:cNvSpPr>
            <a:spLocks noGrp="1" noChangeArrowheads="1"/>
          </p:cNvSpPr>
          <p:nvPr>
            <p:ph type="sldNum" sz="quarter" idx="12"/>
          </p:nvPr>
        </p:nvSpPr>
        <p:spPr bwMode="auto">
          <a:xfrm>
            <a:off x="7162800" y="889843"/>
            <a:ext cx="473804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histogram represents the distribution of household appliance energy consumption.</a:t>
            </a:r>
          </a:p>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groups energy consumption readings into intervals called bins.</a:t>
            </a:r>
          </a:p>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bar represents the number of readings within a particular interval.</a:t>
            </a:r>
          </a:p>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Taller bars indicate energy consumption values that occur more frequently.</a:t>
            </a:r>
          </a:p>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histogram helps us understand the spread and frequency of energy consumption readings.</a:t>
            </a:r>
          </a:p>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helps identify common consumption ranges and unusually high readings.</a:t>
            </a:r>
          </a:p>
        </p:txBody>
      </p:sp>
      <p:pic>
        <p:nvPicPr>
          <p:cNvPr id="7" name="Picture 6">
            <a:extLst>
              <a:ext uri="{FF2B5EF4-FFF2-40B4-BE49-F238E27FC236}">
                <a16:creationId xmlns:a16="http://schemas.microsoft.com/office/drawing/2014/main" id="{3FB82975-8A21-BEAB-A74F-C8167A7FE50B}"/>
              </a:ext>
            </a:extLst>
          </p:cNvPr>
          <p:cNvPicPr>
            <a:picLocks noChangeAspect="1"/>
          </p:cNvPicPr>
          <p:nvPr/>
        </p:nvPicPr>
        <p:blipFill>
          <a:blip r:embed="rId4"/>
          <a:stretch>
            <a:fillRect/>
          </a:stretch>
        </p:blipFill>
        <p:spPr>
          <a:xfrm>
            <a:off x="152401" y="839978"/>
            <a:ext cx="6705600" cy="1903222"/>
          </a:xfrm>
          <a:prstGeom prst="rect">
            <a:avLst/>
          </a:prstGeom>
        </p:spPr>
      </p:pic>
      <p:pic>
        <p:nvPicPr>
          <p:cNvPr id="10" name="Picture 9">
            <a:extLst>
              <a:ext uri="{FF2B5EF4-FFF2-40B4-BE49-F238E27FC236}">
                <a16:creationId xmlns:a16="http://schemas.microsoft.com/office/drawing/2014/main" id="{3B679F0C-7935-F59D-C105-97C6880EF2A9}"/>
              </a:ext>
            </a:extLst>
          </p:cNvPr>
          <p:cNvPicPr>
            <a:picLocks noChangeAspect="1"/>
          </p:cNvPicPr>
          <p:nvPr/>
        </p:nvPicPr>
        <p:blipFill>
          <a:blip r:embed="rId5"/>
          <a:stretch>
            <a:fillRect/>
          </a:stretch>
        </p:blipFill>
        <p:spPr>
          <a:xfrm>
            <a:off x="54447" y="2845470"/>
            <a:ext cx="6803554" cy="3589219"/>
          </a:xfrm>
          <a:prstGeom prst="rect">
            <a:avLst/>
          </a:prstGeom>
        </p:spPr>
      </p:pic>
    </p:spTree>
    <p:extLst>
      <p:ext uri="{BB962C8B-B14F-4D97-AF65-F5344CB8AC3E}">
        <p14:creationId xmlns:p14="http://schemas.microsoft.com/office/powerpoint/2010/main" val="312559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4E35B6-6C3A-A079-14E9-900C26CAB93D}"/>
              </a:ext>
            </a:extLst>
          </p:cNvPr>
          <p:cNvSpPr>
            <a:spLocks noGrp="1"/>
          </p:cNvSpPr>
          <p:nvPr>
            <p:ph type="dt" sz="half" idx="10"/>
          </p:nvPr>
        </p:nvSpPr>
        <p:spPr/>
        <p:txBody>
          <a:bodyPr/>
          <a:lstStyle/>
          <a:p>
            <a:fld id="{8187603C-9C71-4375-9B9C-07CB8A3E7A57}" type="datetime3">
              <a:rPr lang="en-US" smtClean="0"/>
              <a:t>1 October 2026</a:t>
            </a:fld>
            <a:endParaRPr lang="en-US"/>
          </a:p>
        </p:txBody>
      </p:sp>
      <p:pic>
        <p:nvPicPr>
          <p:cNvPr id="6" name="Picture 2" descr="C:\Users\My\Desktop\Capture 1.PNG">
            <a:extLst>
              <a:ext uri="{FF2B5EF4-FFF2-40B4-BE49-F238E27FC236}">
                <a16:creationId xmlns:a16="http://schemas.microsoft.com/office/drawing/2014/main" id="{DF8390AA-DE72-6B21-E733-40F28F11C657}"/>
              </a:ext>
            </a:extLst>
          </p:cNvPr>
          <p:cNvPicPr>
            <a:picLocks noChangeAspect="1" noChangeArrowheads="1"/>
          </p:cNvPicPr>
          <p:nvPr/>
        </p:nvPicPr>
        <p:blipFill>
          <a:blip r:embed="rId3"/>
          <a:srcRect/>
          <a:stretch>
            <a:fillRect/>
          </a:stretch>
        </p:blipFill>
        <p:spPr bwMode="auto">
          <a:xfrm>
            <a:off x="304800" y="187499"/>
            <a:ext cx="1543050" cy="600075"/>
          </a:xfrm>
          <a:prstGeom prst="rect">
            <a:avLst/>
          </a:prstGeom>
          <a:noFill/>
        </p:spPr>
      </p:pic>
      <p:sp>
        <p:nvSpPr>
          <p:cNvPr id="11" name="object 4">
            <a:extLst>
              <a:ext uri="{FF2B5EF4-FFF2-40B4-BE49-F238E27FC236}">
                <a16:creationId xmlns:a16="http://schemas.microsoft.com/office/drawing/2014/main" id="{7F729639-405D-5572-836E-567718ABB4C1}"/>
              </a:ext>
            </a:extLst>
          </p:cNvPr>
          <p:cNvSpPr/>
          <p:nvPr/>
        </p:nvSpPr>
        <p:spPr>
          <a:xfrm>
            <a:off x="3726976" y="294791"/>
            <a:ext cx="4738048" cy="537822"/>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5"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54451DD-7836-A519-AE0F-0C0727C9ADAD}"/>
              </a:ext>
            </a:extLst>
          </p:cNvPr>
          <p:cNvSpPr/>
          <p:nvPr/>
        </p:nvSpPr>
        <p:spPr>
          <a:xfrm>
            <a:off x="4953000" y="185156"/>
            <a:ext cx="4855548" cy="590226"/>
          </a:xfrm>
          <a:prstGeom prst="rect">
            <a:avLst/>
          </a:prstGeom>
        </p:spPr>
        <p:txBody>
          <a:bodyPr wrap="square">
            <a:spAutoFit/>
          </a:bodyPr>
          <a:lstStyle/>
          <a:p>
            <a:pPr defTabSz="1033272">
              <a:lnSpc>
                <a:spcPct val="150000"/>
              </a:lnSpc>
              <a:spcAft>
                <a:spcPts val="600"/>
              </a:spcAft>
              <a:defRPr/>
            </a:pPr>
            <a:r>
              <a:rPr kumimoji="0" lang="en-US" sz="24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ook Antiqua" panose="02040602050305030304" pitchFamily="18" charset="0"/>
                <a:ea typeface="Verdana" panose="020B0604030504040204" pitchFamily="34" charset="0"/>
                <a:cs typeface="Arial Unicode MS" panose="020B0604020202020204" pitchFamily="34" charset="-128"/>
              </a:rPr>
              <a:t>Box Plot </a:t>
            </a:r>
          </a:p>
        </p:txBody>
      </p:sp>
      <p:sp>
        <p:nvSpPr>
          <p:cNvPr id="3" name="Rectangle 1">
            <a:extLst>
              <a:ext uri="{FF2B5EF4-FFF2-40B4-BE49-F238E27FC236}">
                <a16:creationId xmlns:a16="http://schemas.microsoft.com/office/drawing/2014/main" id="{49217813-5711-2C9C-641C-2CE4546B3167}"/>
              </a:ext>
            </a:extLst>
          </p:cNvPr>
          <p:cNvSpPr>
            <a:spLocks noChangeArrowheads="1"/>
          </p:cNvSpPr>
          <p:nvPr/>
        </p:nvSpPr>
        <p:spPr bwMode="auto">
          <a:xfrm>
            <a:off x="7219951" y="877351"/>
            <a:ext cx="495299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box plot represents the distribution of household appliance energy consumption.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shows the median, quartiles, and spread of the energy consumption readings.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line inside the box represents the median energy consumption.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box represents the middle 50% of the readings.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Points beyond the whiskers indicate potential outliers.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helps identify variations in energy consumption and unusually high or low readings.</a:t>
            </a:r>
          </a:p>
        </p:txBody>
      </p:sp>
      <p:pic>
        <p:nvPicPr>
          <p:cNvPr id="8" name="Picture 7">
            <a:extLst>
              <a:ext uri="{FF2B5EF4-FFF2-40B4-BE49-F238E27FC236}">
                <a16:creationId xmlns:a16="http://schemas.microsoft.com/office/drawing/2014/main" id="{C041A459-CA72-2486-B2E9-C6B14FB0C864}"/>
              </a:ext>
            </a:extLst>
          </p:cNvPr>
          <p:cNvPicPr>
            <a:picLocks noChangeAspect="1"/>
          </p:cNvPicPr>
          <p:nvPr/>
        </p:nvPicPr>
        <p:blipFill>
          <a:blip r:embed="rId4"/>
          <a:stretch>
            <a:fillRect/>
          </a:stretch>
        </p:blipFill>
        <p:spPr>
          <a:xfrm>
            <a:off x="78901" y="1059852"/>
            <a:ext cx="6931499" cy="1830657"/>
          </a:xfrm>
          <a:prstGeom prst="rect">
            <a:avLst/>
          </a:prstGeom>
        </p:spPr>
      </p:pic>
      <p:pic>
        <p:nvPicPr>
          <p:cNvPr id="13" name="Picture 12">
            <a:extLst>
              <a:ext uri="{FF2B5EF4-FFF2-40B4-BE49-F238E27FC236}">
                <a16:creationId xmlns:a16="http://schemas.microsoft.com/office/drawing/2014/main" id="{087505E7-C988-F001-07D9-902F5234FCC9}"/>
              </a:ext>
            </a:extLst>
          </p:cNvPr>
          <p:cNvPicPr>
            <a:picLocks noChangeAspect="1"/>
          </p:cNvPicPr>
          <p:nvPr/>
        </p:nvPicPr>
        <p:blipFill>
          <a:blip r:embed="rId5"/>
          <a:stretch>
            <a:fillRect/>
          </a:stretch>
        </p:blipFill>
        <p:spPr>
          <a:xfrm>
            <a:off x="139700" y="3055581"/>
            <a:ext cx="6629400" cy="3665895"/>
          </a:xfrm>
          <a:prstGeom prst="rect">
            <a:avLst/>
          </a:prstGeom>
        </p:spPr>
      </p:pic>
    </p:spTree>
    <p:extLst>
      <p:ext uri="{BB962C8B-B14F-4D97-AF65-F5344CB8AC3E}">
        <p14:creationId xmlns:p14="http://schemas.microsoft.com/office/powerpoint/2010/main" val="3965854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EB82E-ADF6-B241-0EA7-94311C50AD7D}"/>
            </a:ext>
          </a:extLst>
        </p:cNvPr>
        <p:cNvGrpSpPr/>
        <p:nvPr/>
      </p:nvGrpSpPr>
      <p:grpSpPr>
        <a:xfrm>
          <a:off x="0" y="0"/>
          <a:ext cx="0" cy="0"/>
          <a:chOff x="0" y="0"/>
          <a:chExt cx="0" cy="0"/>
        </a:xfrm>
      </p:grpSpPr>
      <p:pic>
        <p:nvPicPr>
          <p:cNvPr id="2050" name="Picture 2" descr="C:\Users\My\Desktop\Capture 1.PNG">
            <a:extLst>
              <a:ext uri="{FF2B5EF4-FFF2-40B4-BE49-F238E27FC236}">
                <a16:creationId xmlns:a16="http://schemas.microsoft.com/office/drawing/2014/main" id="{1A6A51AF-992C-F1C8-957A-6F8F8CDCB0ED}"/>
              </a:ext>
            </a:extLst>
          </p:cNvPr>
          <p:cNvPicPr>
            <a:picLocks noChangeAspect="1" noChangeArrowheads="1"/>
          </p:cNvPicPr>
          <p:nvPr/>
        </p:nvPicPr>
        <p:blipFill>
          <a:blip r:embed="rId2"/>
          <a:srcRect/>
          <a:stretch>
            <a:fillRect/>
          </a:stretch>
        </p:blipFill>
        <p:spPr bwMode="auto">
          <a:xfrm>
            <a:off x="304800" y="187499"/>
            <a:ext cx="1543050" cy="600075"/>
          </a:xfrm>
          <a:prstGeom prst="rect">
            <a:avLst/>
          </a:prstGeom>
          <a:noFill/>
        </p:spPr>
      </p:pic>
      <p:sp>
        <p:nvSpPr>
          <p:cNvPr id="4" name="Slide Number Placeholder 3">
            <a:extLst>
              <a:ext uri="{FF2B5EF4-FFF2-40B4-BE49-F238E27FC236}">
                <a16:creationId xmlns:a16="http://schemas.microsoft.com/office/drawing/2014/main" id="{C5FC7319-E072-9B60-8868-3876BE0B5317}"/>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7" name="Group 6">
            <a:extLst>
              <a:ext uri="{FF2B5EF4-FFF2-40B4-BE49-F238E27FC236}">
                <a16:creationId xmlns:a16="http://schemas.microsoft.com/office/drawing/2014/main" id="{1ACAD2ED-0A2B-4311-CC21-7AE48D7B2718}"/>
              </a:ext>
            </a:extLst>
          </p:cNvPr>
          <p:cNvGrpSpPr/>
          <p:nvPr/>
        </p:nvGrpSpPr>
        <p:grpSpPr>
          <a:xfrm>
            <a:off x="3581400" y="0"/>
            <a:ext cx="4495800" cy="1492698"/>
            <a:chOff x="13004829" y="1407596"/>
            <a:chExt cx="6141489" cy="1909355"/>
          </a:xfrm>
        </p:grpSpPr>
        <p:grpSp>
          <p:nvGrpSpPr>
            <p:cNvPr id="8" name="Group 7">
              <a:extLst>
                <a:ext uri="{FF2B5EF4-FFF2-40B4-BE49-F238E27FC236}">
                  <a16:creationId xmlns:a16="http://schemas.microsoft.com/office/drawing/2014/main" id="{79EE5553-A438-AE53-C9CB-6B1047E0B024}"/>
                </a:ext>
              </a:extLst>
            </p:cNvPr>
            <p:cNvGrpSpPr/>
            <p:nvPr/>
          </p:nvGrpSpPr>
          <p:grpSpPr>
            <a:xfrm>
              <a:off x="13004829" y="1407596"/>
              <a:ext cx="6141489" cy="1909355"/>
              <a:chOff x="4704978" y="719582"/>
              <a:chExt cx="3456384" cy="1077033"/>
            </a:xfrm>
          </p:grpSpPr>
          <p:pic>
            <p:nvPicPr>
              <p:cNvPr id="10" name="object 3">
                <a:extLst>
                  <a:ext uri="{FF2B5EF4-FFF2-40B4-BE49-F238E27FC236}">
                    <a16:creationId xmlns:a16="http://schemas.microsoft.com/office/drawing/2014/main" id="{E6D991A6-D0A7-D83F-0B1D-E649C6D4F179}"/>
                  </a:ext>
                </a:extLst>
              </p:cNvPr>
              <p:cNvPicPr/>
              <p:nvPr/>
            </p:nvPicPr>
            <p:blipFill>
              <a:blip r:embed="rId3" cstate="print"/>
              <a:stretch>
                <a:fillRect/>
              </a:stretch>
            </p:blipFill>
            <p:spPr>
              <a:xfrm>
                <a:off x="4704978" y="719582"/>
                <a:ext cx="3456384" cy="1077033"/>
              </a:xfrm>
              <a:prstGeom prst="rect">
                <a:avLst/>
              </a:prstGeom>
              <a:noFill/>
            </p:spPr>
            <p:style>
              <a:lnRef idx="0">
                <a:schemeClr val="accent6"/>
              </a:lnRef>
              <a:fillRef idx="3">
                <a:schemeClr val="accent6"/>
              </a:fillRef>
              <a:effectRef idx="3">
                <a:schemeClr val="accent6"/>
              </a:effectRef>
              <a:fontRef idx="minor">
                <a:schemeClr val="lt1"/>
              </a:fontRef>
            </p:style>
          </p:pic>
          <p:sp>
            <p:nvSpPr>
              <p:cNvPr id="11" name="object 4">
                <a:extLst>
                  <a:ext uri="{FF2B5EF4-FFF2-40B4-BE49-F238E27FC236}">
                    <a16:creationId xmlns:a16="http://schemas.microsoft.com/office/drawing/2014/main" id="{FEFEE09A-0754-6E76-EF81-8A06289D1BAE}"/>
                  </a:ext>
                </a:extLst>
              </p:cNvPr>
              <p:cNvSpPr/>
              <p:nvPr/>
            </p:nvSpPr>
            <p:spPr>
              <a:xfrm>
                <a:off x="4832251" y="884263"/>
                <a:ext cx="3094774" cy="413946"/>
              </a:xfrm>
              <a:custGeom>
                <a:avLst/>
                <a:gdLst/>
                <a:ahLst/>
                <a:cxnLst/>
                <a:rect l="l" t="t" r="r" b="b"/>
                <a:pathLst>
                  <a:path w="6572250" h="748030">
                    <a:moveTo>
                      <a:pt x="6447626" y="0"/>
                    </a:moveTo>
                    <a:lnTo>
                      <a:pt x="124624" y="0"/>
                    </a:lnTo>
                    <a:lnTo>
                      <a:pt x="76114" y="9793"/>
                    </a:lnTo>
                    <a:lnTo>
                      <a:pt x="36501" y="36502"/>
                    </a:lnTo>
                    <a:lnTo>
                      <a:pt x="9793" y="76115"/>
                    </a:lnTo>
                    <a:lnTo>
                      <a:pt x="0" y="124625"/>
                    </a:lnTo>
                    <a:lnTo>
                      <a:pt x="0" y="623087"/>
                    </a:lnTo>
                    <a:lnTo>
                      <a:pt x="9793" y="671597"/>
                    </a:lnTo>
                    <a:lnTo>
                      <a:pt x="36501" y="711210"/>
                    </a:lnTo>
                    <a:lnTo>
                      <a:pt x="76114" y="737918"/>
                    </a:lnTo>
                    <a:lnTo>
                      <a:pt x="124624" y="747712"/>
                    </a:lnTo>
                    <a:lnTo>
                      <a:pt x="6447626" y="747712"/>
                    </a:lnTo>
                    <a:lnTo>
                      <a:pt x="6496135" y="737918"/>
                    </a:lnTo>
                    <a:lnTo>
                      <a:pt x="6535748" y="711210"/>
                    </a:lnTo>
                    <a:lnTo>
                      <a:pt x="6562456" y="671597"/>
                    </a:lnTo>
                    <a:lnTo>
                      <a:pt x="6572250" y="623087"/>
                    </a:lnTo>
                    <a:lnTo>
                      <a:pt x="6572250" y="124625"/>
                    </a:lnTo>
                    <a:lnTo>
                      <a:pt x="6562456" y="76115"/>
                    </a:lnTo>
                    <a:lnTo>
                      <a:pt x="6535748" y="36502"/>
                    </a:lnTo>
                    <a:lnTo>
                      <a:pt x="6496135" y="9793"/>
                    </a:lnTo>
                    <a:lnTo>
                      <a:pt x="6447626" y="0"/>
                    </a:lnTo>
                    <a:close/>
                  </a:path>
                </a:pathLst>
              </a:custGeom>
              <a:solidFill>
                <a:srgbClr val="FF6600"/>
              </a:solidFill>
            </p:spPr>
            <p:style>
              <a:lnRef idx="0">
                <a:schemeClr val="accent6"/>
              </a:lnRef>
              <a:fillRef idx="3">
                <a:schemeClr val="accent6"/>
              </a:fillRef>
              <a:effectRef idx="3">
                <a:schemeClr val="accent6"/>
              </a:effectRef>
              <a:fontRef idx="minor">
                <a:schemeClr val="lt1"/>
              </a:fontRef>
            </p:style>
            <p:txBody>
              <a:bodyPr wrap="square" lIns="0" tIns="0" rIns="0" bIns="0" rtlCol="0"/>
              <a:lstStyle/>
              <a:p>
                <a:endParaRPr sz="1055" dirty="0"/>
              </a:p>
            </p:txBody>
          </p:sp>
        </p:grpSp>
        <p:sp>
          <p:nvSpPr>
            <p:cNvPr id="9" name="Rectangle 8">
              <a:extLst>
                <a:ext uri="{FF2B5EF4-FFF2-40B4-BE49-F238E27FC236}">
                  <a16:creationId xmlns:a16="http://schemas.microsoft.com/office/drawing/2014/main" id="{437718C1-00AE-912F-1E8E-EB01D2783991}"/>
                </a:ext>
              </a:extLst>
            </p:cNvPr>
            <p:cNvSpPr/>
            <p:nvPr/>
          </p:nvSpPr>
          <p:spPr>
            <a:xfrm>
              <a:off x="13162789" y="1469213"/>
              <a:ext cx="5635330" cy="686962"/>
            </a:xfrm>
            <a:prstGeom prst="rect">
              <a:avLst/>
            </a:prstGeom>
          </p:spPr>
          <p:txBody>
            <a:bodyPr wrap="square">
              <a:spAutoFit/>
            </a:bodyPr>
            <a:lstStyle/>
            <a:p>
              <a:endParaRPr b="1" dirty="0">
                <a:latin typeface="Maiandra GD"/>
              </a:endParaRPr>
            </a:p>
          </p:txBody>
        </p:sp>
      </p:grpSp>
      <p:sp>
        <p:nvSpPr>
          <p:cNvPr id="5" name="TextBox 4">
            <a:extLst>
              <a:ext uri="{FF2B5EF4-FFF2-40B4-BE49-F238E27FC236}">
                <a16:creationId xmlns:a16="http://schemas.microsoft.com/office/drawing/2014/main" id="{99E3B4D7-ED6A-8DAE-93E7-3337095C60C4}"/>
              </a:ext>
            </a:extLst>
          </p:cNvPr>
          <p:cNvSpPr txBox="1"/>
          <p:nvPr/>
        </p:nvSpPr>
        <p:spPr>
          <a:xfrm>
            <a:off x="4576190" y="244299"/>
            <a:ext cx="2286000" cy="461665"/>
          </a:xfrm>
          <a:prstGeom prst="rect">
            <a:avLst/>
          </a:prstGeom>
          <a:noFill/>
        </p:spPr>
        <p:txBody>
          <a:bodyPr wrap="square">
            <a:spAutoFit/>
          </a:bodyPr>
          <a:lstStyle/>
          <a:p>
            <a:r>
              <a:rPr lang="en-IN" sz="2400" b="1" dirty="0">
                <a:latin typeface="Maiandra GD"/>
              </a:rPr>
              <a:t>CONCLUSION</a:t>
            </a:r>
          </a:p>
        </p:txBody>
      </p:sp>
      <p:sp>
        <p:nvSpPr>
          <p:cNvPr id="18" name="Rectangle 8">
            <a:extLst>
              <a:ext uri="{FF2B5EF4-FFF2-40B4-BE49-F238E27FC236}">
                <a16:creationId xmlns:a16="http://schemas.microsoft.com/office/drawing/2014/main" id="{50D34E35-F1C0-F285-56D2-9E272FBE4C1D}"/>
              </a:ext>
            </a:extLst>
          </p:cNvPr>
          <p:cNvSpPr>
            <a:spLocks noChangeArrowheads="1"/>
          </p:cNvSpPr>
          <p:nvPr/>
        </p:nvSpPr>
        <p:spPr bwMode="auto">
          <a:xfrm>
            <a:off x="590550" y="801939"/>
            <a:ext cx="1129665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r>
              <a:rPr lang="en-US" sz="2000" dirty="0"/>
              <a:t>• The Streaming Data Analysis and Visualization project successfully analyzes household energy consumption data.</a:t>
            </a:r>
          </a:p>
          <a:p>
            <a:endParaRPr lang="en-US" sz="2000" dirty="0"/>
          </a:p>
          <a:p>
            <a:r>
              <a:rPr lang="en-US" sz="2000" dirty="0"/>
              <a:t>• Pandas and NumPy were used for data processing, statistical calculations, and analysis.</a:t>
            </a:r>
          </a:p>
          <a:p>
            <a:endParaRPr lang="en-US" sz="2000" dirty="0"/>
          </a:p>
          <a:p>
            <a:r>
              <a:rPr lang="en-US" sz="2000" dirty="0"/>
              <a:t>• Date and time data were processed to identify energy consumption patterns over different time periods.</a:t>
            </a:r>
          </a:p>
          <a:p>
            <a:r>
              <a:rPr lang="en-US" sz="2000" dirty="0"/>
              <a:t>• Matplotlib was used to create visualizations such as line charts, bar charts, histograms, box plots, and scatter plots.</a:t>
            </a:r>
          </a:p>
          <a:p>
            <a:endParaRPr lang="en-US" sz="2000" dirty="0"/>
          </a:p>
          <a:p>
            <a:r>
              <a:rPr lang="en-US" sz="2000" dirty="0"/>
              <a:t>• Energy consumption patterns were analyzed to understand daily and hourly usage variations.</a:t>
            </a:r>
          </a:p>
          <a:p>
            <a:endParaRPr lang="en-US" sz="2000" dirty="0"/>
          </a:p>
          <a:p>
            <a:r>
              <a:rPr lang="en-US" sz="2000" dirty="0"/>
              <a:t>• Potential anomalies were identified by detecting unusually high energy consumption readings.</a:t>
            </a:r>
          </a:p>
          <a:p>
            <a:endParaRPr lang="en-US" sz="2000" dirty="0"/>
          </a:p>
          <a:p>
            <a:r>
              <a:rPr lang="en-US" sz="2000" dirty="0"/>
              <a:t>• Overall, the project helps understand household energy usage patterns, identify unusual consumption, and gain useful insights for better energy management and decision-making.</a:t>
            </a:r>
          </a:p>
        </p:txBody>
      </p:sp>
    </p:spTree>
    <p:extLst>
      <p:ext uri="{BB962C8B-B14F-4D97-AF65-F5344CB8AC3E}">
        <p14:creationId xmlns:p14="http://schemas.microsoft.com/office/powerpoint/2010/main" val="480848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14965E-1F65-92C3-B565-3D712FC79C97}"/>
              </a:ext>
            </a:extLst>
          </p:cNvPr>
          <p:cNvSpPr>
            <a:spLocks noGrp="1"/>
          </p:cNvSpPr>
          <p:nvPr>
            <p:ph type="sldNum" sz="quarter" idx="12"/>
          </p:nvPr>
        </p:nvSpPr>
        <p:spPr/>
        <p:txBody>
          <a:bodyPr/>
          <a:lstStyle/>
          <a:p>
            <a:fld id="{60151B67-00FB-4D50-A453-CADB0B247171}" type="slidenum">
              <a:rPr lang="en-IN" smtClean="0"/>
              <a:pPr/>
              <a:t>22</a:t>
            </a:fld>
            <a:endParaRPr lang="en-IN"/>
          </a:p>
        </p:txBody>
      </p:sp>
      <p:sp>
        <p:nvSpPr>
          <p:cNvPr id="2" name="Rectangle 1">
            <a:extLst>
              <a:ext uri="{FF2B5EF4-FFF2-40B4-BE49-F238E27FC236}">
                <a16:creationId xmlns:a16="http://schemas.microsoft.com/office/drawing/2014/main" id="{8F1F552B-10BA-BE7B-117E-96A43B5BFACC}"/>
              </a:ext>
            </a:extLst>
          </p:cNvPr>
          <p:cNvSpPr/>
          <p:nvPr/>
        </p:nvSpPr>
        <p:spPr>
          <a:xfrm>
            <a:off x="2153165" y="3983002"/>
            <a:ext cx="7885669" cy="1207167"/>
          </a:xfrm>
          <a:prstGeom prst="rect">
            <a:avLst/>
          </a:prstGeom>
        </p:spPr>
        <p:txBody>
          <a:bodyPr vert="horz" lIns="36349" tIns="18175" rIns="36349" bIns="18175" rtlCol="0" anchor="ctr">
            <a:normAutofit/>
          </a:bodyPr>
          <a:lstStyle/>
          <a:p>
            <a:pPr algn="ctr" defTabSz="369303">
              <a:spcBef>
                <a:spcPct val="0"/>
              </a:spcBef>
              <a:spcAft>
                <a:spcPts val="238"/>
              </a:spcAft>
            </a:pPr>
            <a:endParaRPr lang="en-US" sz="3772" dirty="0">
              <a:ln w="22225">
                <a:solidFill>
                  <a:schemeClr val="accent2">
                    <a:lumMod val="50000"/>
                  </a:schemeClr>
                </a:solidFill>
                <a:prstDash val="solid"/>
              </a:ln>
              <a:latin typeface="Berlin Sans FB" panose="020E0602020502020306" pitchFamily="34" charset="0"/>
              <a:ea typeface="+mj-ea"/>
              <a:cs typeface="+mj-cs"/>
            </a:endParaRPr>
          </a:p>
        </p:txBody>
      </p:sp>
      <p:sp>
        <p:nvSpPr>
          <p:cNvPr id="3" name="TextBox 2">
            <a:extLst>
              <a:ext uri="{FF2B5EF4-FFF2-40B4-BE49-F238E27FC236}">
                <a16:creationId xmlns:a16="http://schemas.microsoft.com/office/drawing/2014/main" id="{241B3D63-1A7B-5A89-5CF8-803287EF864A}"/>
              </a:ext>
            </a:extLst>
          </p:cNvPr>
          <p:cNvSpPr txBox="1"/>
          <p:nvPr/>
        </p:nvSpPr>
        <p:spPr>
          <a:xfrm>
            <a:off x="4686299" y="2573619"/>
            <a:ext cx="2819400" cy="830997"/>
          </a:xfrm>
          <a:prstGeom prst="rect">
            <a:avLst/>
          </a:prstGeom>
          <a:noFill/>
        </p:spPr>
        <p:txBody>
          <a:bodyPr wrap="square" rtlCol="0">
            <a:spAutoFit/>
          </a:bodyPr>
          <a:lstStyle/>
          <a:p>
            <a:r>
              <a:rPr lang="en-US" sz="4800" b="1" dirty="0">
                <a:latin typeface="Alasassy Caps" panose="020F0502020204030204" pitchFamily="2" charset="0"/>
              </a:rPr>
              <a:t>Thank you</a:t>
            </a:r>
          </a:p>
        </p:txBody>
      </p:sp>
    </p:spTree>
    <p:extLst>
      <p:ext uri="{BB962C8B-B14F-4D97-AF65-F5344CB8AC3E}">
        <p14:creationId xmlns:p14="http://schemas.microsoft.com/office/powerpoint/2010/main" val="2554416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1766</TotalTime>
  <Words>2217</Words>
  <Application>Microsoft Office PowerPoint</Application>
  <PresentationFormat>Widescreen</PresentationFormat>
  <Paragraphs>331</Paragraphs>
  <Slides>22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Alasassy Caps</vt:lpstr>
      <vt:lpstr>Arial</vt:lpstr>
      <vt:lpstr>Berlin Sans FB</vt:lpstr>
      <vt:lpstr>Book Antiqua</vt:lpstr>
      <vt:lpstr>Calibri</vt:lpstr>
      <vt:lpstr>Maiandra GD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My</dc:creator>
  <cp:lastModifiedBy>Anvesh Mynam</cp:lastModifiedBy>
  <cp:revision>21</cp:revision>
  <dcterms:created xsi:type="dcterms:W3CDTF">2006-08-16T00:00:00Z</dcterms:created>
  <dcterms:modified xsi:type="dcterms:W3CDTF">2026-10-01T05:39:37Z</dcterms:modified>
</cp:coreProperties>
</file>